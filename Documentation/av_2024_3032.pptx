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5"/>
  </p:notesMasterIdLst>
  <p:sldIdLst>
    <p:sldId id="256" r:id="rId2"/>
    <p:sldId id="257" r:id="rId3"/>
    <p:sldId id="258" r:id="rId4"/>
    <p:sldId id="259" r:id="rId5"/>
    <p:sldId id="260" r:id="rId6"/>
    <p:sldId id="261" r:id="rId7"/>
    <p:sldId id="268" r:id="rId8"/>
    <p:sldId id="262" r:id="rId9"/>
    <p:sldId id="263" r:id="rId10"/>
    <p:sldId id="264" r:id="rId11"/>
    <p:sldId id="265" r:id="rId12"/>
    <p:sldId id="266" r:id="rId13"/>
    <p:sldId id="267" r:id="rId14"/>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2" dt="2026-09-08T11:44:29.496"/>
    <p1510:client id="{CE61A77D-37EA-3A23-D17E-B3663AE671D6}" v="3" dt="2026-09-08T12:16:32.7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22885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2913063" y="0"/>
            <a:ext cx="222885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22885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[0:00 - 0:24]  Naslovna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Dobar dan. Ja sam Vuk Aleksijević, 2024/3032. Tema je aplikacija za pomoć pri čitanju, radi na RSVP principu i sama podešava brzinu. Mentor mi je profesor Cvetanović.</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Rad ima dva dela. Prvi je da sam napravio Android aplikaciju. Drugi je da sam tu istu aplikaciju posle koristio da izmerim nešto na devet ljudi.</a:t>
            </a:r>
            <a:endParaRPr/>
          </a:p>
        </p:txBody>
      </p:sp>
      <p:sp>
        <p:nvSpPr>
          <p:cNvPr id="14" name="Google Shape;14;p1: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2: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 name="Google Shape;25;p2: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[0:24 - 1:23]  Motivacija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Prvo zašto RSVP uopšte postoji.</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Kad čitamo, oko ne klizi preko reda, ono skače. Ti skokovi se zovu sakade, a između njih su kratka zaustavljanja, fiksacije. Vidimo samo dok traje fiksacija.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Ovde je poenta. Osamdeset pet do devedeset odsto vremena čitanja ode na fiksacije, znači na to da prepoznamo reč. Na same pokrete ide oko deset procenata, i to je gornja granica onoga što bilo kakav prikaz može da uštedi.</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Ono što RSVP stvarno rešava jeste povratni skok na kraju reda, najskuplji pokret u čitanju. Zato ovo ima najviše smisla na telefonu.</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Ali uzima i dve stvari. Parafovealnu pripremu, jer je na ekranu jedna reč. I mogućnost vraćanja, a Schotter i saradnici su pokazali da to obara razumevanje. Zato sam vraćanje unazad ostavio kao osnovnu funkciju i brojim koliko puta se korisnik vrati.</a:t>
            </a:r>
            <a:endParaRPr/>
          </a:p>
        </p:txBody>
      </p:sp>
      <p:sp>
        <p:nvSpPr>
          <p:cNvPr id="26" name="Google Shape;26;p2: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p3: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[1:23 - 2:25]  Arhitektura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Tri sloja. Compose ekrani gore, ViewModel klase u sredini, Room baza dole.</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Ali arhitekturu ovde ne određuju funkcionalni zahtevi nego dva druga. Prvo, reč mora da se zameni tačno kad algoritam kaže, jer na četiri stotine reči u minutu prikaz traje sto pedeset milisekundi. Drugo, greška ne sme da se akumulira, jer se reči smenjuju stotinama puta po sesiji.</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Otud i glavna odluka, da je tok jednosmeran. Prikaz šalje događaje nadole i prima stanje nagore, ali stanje sam nikad ne menja. Razlog je merni. Ako ima više izvora istine, prikazana reč i zabeleženi indeks se raziđu, i onda telemetrija tvrdi nešto što se na ekranu nije desilo.</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I još jedna stvar. U sloju logike nema nijedne reference na Compose, jer ViewModel preživi rotaciju ekrana a Composable ne. Da brojač stoji u sloju prikaza, rotacija usred čitanja bi obrisala merenje.</a:t>
            </a:r>
            <a:endParaRPr/>
          </a:p>
        </p:txBody>
      </p:sp>
      <p:sp>
        <p:nvSpPr>
          <p:cNvPr id="47" name="Google Shape;47;p3: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4: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 name="Google Shape;57;p4: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[2:25 - 3:36]  Akumulacija greške</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Ovo je po meni suština tehničkog dela.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Levo je petlja koju bi svako prvo napisao. Čekaj trajanje, pređi na sledeću reč. Problem je što delay garantuje da će proći bar toliko vremena, a raspoređivač obično vrati kontrolu malo kasnije. I ako sledeće čekanje računate od trenutka kad ste se probudili, taj višak se skuplja kroz ceo tekst.</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Da vam dam broj. Na četiri stotine reči u minutu i višku od tri milisekunde po reči, tekst od hiljadu reči traje dvadesetak sekundi duže. To je dva odsto greške u efektivnoj brzini, a to mi je glavna merena veličina, znači greška bi se pomešala sa efektom koji merim.</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Desno je kako sam rešio. Računam apsolutne trenutke svake smene i sabiram ih unapred, pa kašnjenje jedne iteracije ne pomera one posle nje.</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Još jedan detalj. Ako ispadne negativno čekanje, petlja ne nadoknađuje preskakanjem reči nego postavlja novu polaznu tačku. Preskočena reč bi bila reč koju korisnik nikad nije video, a telemetrija bi tvrdila suprotno.</a:t>
            </a:r>
            <a:endParaRPr/>
          </a:p>
        </p:txBody>
      </p:sp>
      <p:sp>
        <p:nvSpPr>
          <p:cNvPr id="58" name="Google Shape;58;p4: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5: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 name="Google Shape;77;p5: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[3:36 - 4:20]  Prilagodljiv tempo i alfa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Sad drugi deo naslova, adaptivna brzina.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Trajanje prikaza kreće od brzine u rečima po minutu, a u prilagodljivom režimu na to idu dva činioca. Množilac po dužini reči i bonus za pauzu, koji se dodaje a ne množi.</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Ono što bih izdvojio je referentna dužina. Nju ne uzimam iz literature nego je računam kao prosečnu dužinu reči baš tog teksta. Tako prosečna reč svakog teksta, na bilo kom jeziku, dobije množilac tačno jedan, pa alfa zavisi od toga koliko je interpunkcija gusta, a ne od jezika.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Alfa je prosek tih činilaca. Izmerene vrednosti idu od 1,036 do 1,102.</a:t>
            </a:r>
            <a:endParaRPr/>
          </a:p>
        </p:txBody>
      </p:sp>
      <p:sp>
        <p:nvSpPr>
          <p:cNvPr id="78" name="Google Shape;78;p5: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6: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6: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[4:20 - 4:59]  Tok kalibracije</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Kalibracija je ono što aplikaciju čini mernim instrumentom.</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Tok je prost. Tri teksta, svaki na zaključanoj brzini, sto, dvesta pedeset i trista pedeset, i posle svakog kviz od šest pitanja. Algoritam na kraju uzme najveću brzinu na kojoj je tačnost bila bar osamdeset odsto.</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Dva rizika sam unapred upisao u rad. Maksimum po tri merenja bira gornji rep. A ako nijedna etapa ne pređe prag, upisuje se rezervnih pedeset, brzina koja na tom čoveku nije ni izmerena. Zapamtite ovo drugo, na njega se vraćam na kraju.</a:t>
            </a:r>
            <a:endParaRPr/>
          </a:p>
        </p:txBody>
      </p:sp>
      <p:sp>
        <p:nvSpPr>
          <p:cNvPr id="103" name="Google Shape;103;p6: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Три екрана. Лево почетни, са картицом која води у процену брзине. У средини екран читања — приметићете да је једно слово у речи истакнуто; то је оптимална тачка препознавања, и реч се исцртава тако да то слово увек падне на исту тачку, на четрдесет два процента ширине приказа. То се не постиже позиционирањем виџета него директним цртањем на Canvas-у, уз засебно мерење префикса, истакнутог слова и суфикса.
Десно је извештај који учесник добија после сесије: оптимална брзина, крива тачности по брзинама и преглед по текстовима. Исти податак се извози у PDF.
Ситница која је заправо пројектантска одлука: у мереним условима ред са контролама се не приказује уопште. Тиме је могућност да учесник случајно измени брзину усред мерења уклоњена структурно, без провере на нивоу ViewModel-а.
[~50 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7: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[4:59 - 5:43]  Nacrt evaluacije</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Cilj merenja nije bio da pokažem da aplikacija ubrzava čitanje. Cilj je uži. Da li kalibracija stvarno nađe brzinu na kojoj čovek zadrži razumevanje, i da li čitanje tom brzinom daje rezultat uporediv sa papirom.</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Devet ljudi, pet tekstova, tri uslova, sve u jednoj sednici po čoveku. Tri teksta na zaključanoj brzini, jedan PISA tekst kroz aplikaciju sa punom kontrolom tempa, i drugi PISA tekst na papiru.</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Jedna odluka je bitna za treću hipotezu. Prilagodljivi režim sam tokom merenja namerno isključio. Na konstantnom tempu svaka reč dobije isto trajanje, pa svako odstupanje mora da dođe od ponašanja učesnika.</a:t>
            </a:r>
            <a:endParaRPr/>
          </a:p>
        </p:txBody>
      </p:sp>
      <p:sp>
        <p:nvSpPr>
          <p:cNvPr id="120" name="Google Shape;120;p7: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8: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[5:43 - 6:36]  Rezultati H1</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Prva hipoteza. Tačnost pada skoro monotono. Šezdeset osam odsto na sto reči u minutu, pedeset sedam na dvesta pedeset, pedeset na trista pedeset. Smer je potvrđen.</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Ali ovde moram da budem precizan. Pošto baza uz svaku sesiju čuva i koji je tekst čitan, mogao sam da razdvojim tačnost po tekstu. Na istoj brzini od sto reči u minutu, četvoro koji su dobili Alchemist ima osamdeset tri odsto, a četvoro koji su dobili Caveman pedeset četiri. Dvadeset devet poena razlike na istom tempu, a ukupan pad kroz sve tri brzine je devetnaest.</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Znači hipoteza ostaje potvrđena po smeru, ali ne i po veličini. Raspored tekstova po brzinama na ovih devet pokretanja nije ispao uravnotežen, i to je najslabija tačka rada.</a:t>
            </a:r>
            <a:endParaRPr/>
          </a:p>
        </p:txBody>
      </p:sp>
      <p:sp>
        <p:nvSpPr>
          <p:cNvPr id="146" name="Google Shape;146;p8: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9: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[6:36 - 7:40]  Rezultati H2 i H3</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Druga hipoteza. Tačnost kroz aplikaciju je osamdeset pet odsto, na papiru osamdeset. Kad se poredi čovek po čovek nijedan smer ne preovlađuje. Znači rezultati su uporedivi, a to je dobar ishod, jer znači da kalibracija daje upotrebljivu brzinu.</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Treća hipoteza je potvrđena, ali ne iz razloga koji sam očekivao. Pošto je prilagodljivi režim bio isključen, alfa u merenju nije ni učestvovala, pa je sav pad došao od ponašanja učesnika. Troje koji se nijednom nisu vratili unazad ima efektivnu brzinu identičnu podešenoj, do na celu reč u minutu. To mi je i najčistija potvrda da u mernom lancu nema sistematskog odstupanja.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I jedna stvar koju nijedna hipoteza nije predvidela. Da li je aplikacija brža ili sporija od papira zavisi od toga koju meru uzmete. Po efektivnoj četiri odsto brža, po sesijskoj petnaest odsto sporija. Razlika je tačno ono vreme koje čovek provede na pauzi i na kontrolama.</a:t>
            </a:r>
            <a:endParaRPr/>
          </a:p>
        </p:txBody>
      </p:sp>
      <p:sp>
        <p:nvSpPr>
          <p:cNvPr id="162" name="Google Shape;162;p9: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0: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0: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[7:40 - 8:31]  Ključni nalaz</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Najzanimljiviji nalaz nije nijedna od tri hipoteze.</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Troje od devet je završilo kalibraciju sa onom rezervnom vrednošću od pedeset reči u minutu, jer ni najsporija testirana brzina nije prešla prag. Za dvoje od to troje ispalo je da, čim im se vrati kontrola nad tempom, čitaju na sto sedamdeset i sto devedeset, i to bez ijedne greške.</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Učesnik šest pokazuje drugu stranu. Prihvatio je sto reči u minutu koje mu je algoritam ponudio, nije ih nijednom promenio, i pročitao tekst bez greške. Sa papira isti čovek čita dvesta dvanaest.</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Razlika između njega i one dvojice nije u tome ko bolje čita, nego u tome ko je spreman da ospori broj koji mu je mašina dala.</a:t>
            </a:r>
            <a:endParaRPr/>
          </a:p>
        </p:txBody>
      </p:sp>
      <p:sp>
        <p:nvSpPr>
          <p:cNvPr id="181" name="Google Shape;181;p10: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1: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[8:31 - 9:10]  Šta rad doprinosi</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Da sumiram u tri stvari.</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Inženjerski, aplikacija koja teoriju prevodi u merni instrument. Mehanizam na apsolutnim vremenskim trenucima i algoritam tempa izveden iz samog teksta.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Merno, razdvojene tri brzine koje se čuvaju uz svaku sesiju. Ispalo je da to nije pojmovna finesa nego veličina koja odlučuje ishod poređenja.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Istraživački, sve tri hipoteze su potvrđene, ali najvažnije je ono izvan njih, da zaključan tempo potcenjuje deo čitalaca.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Ograničenja navodim otvoreno: uzorak je mali, redosled uslova fiksan, raspored tekstova neuravnotežen, i prilagodljivi režim sam proverio samo računski.</a:t>
            </a:r>
            <a:endParaRPr/>
          </a:p>
        </p:txBody>
      </p:sp>
      <p:sp>
        <p:nvSpPr>
          <p:cNvPr id="197" name="Google Shape;197;p11: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a:spLocks noGrp="1" noRot="1" noChangeAspect="1"/>
          </p:cNvSpPr>
          <p:nvPr>
            <p:ph type="sldImg" idx="2"/>
          </p:nvPr>
        </p:nvSpPr>
        <p:spPr>
          <a:xfrm>
            <a:off x="-17145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12:notes"/>
          <p:cNvSpPr txBox="1">
            <a:spLocks noGrp="1"/>
          </p:cNvSpPr>
          <p:nvPr>
            <p:ph type="body" idx="1"/>
          </p:nvPr>
        </p:nvSpPr>
        <p:spPr>
          <a:xfrm>
            <a:off x="514350" y="4400550"/>
            <a:ext cx="41148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[9:10 - 9:17]  Hvala na pažnji</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To je to od mene. Hvala vam na pažnji, spreman sam za pitanja.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[Pusti tišinu, ne popunjavaj je.]</a:t>
            </a:r>
            <a:endParaRPr/>
          </a:p>
        </p:txBody>
      </p:sp>
      <p:sp>
        <p:nvSpPr>
          <p:cNvPr id="214" name="Google Shape;214;p12:notes"/>
          <p:cNvSpPr txBox="1">
            <a:spLocks noGrp="1"/>
          </p:cNvSpPr>
          <p:nvPr>
            <p:ph type="sldNum" idx="12"/>
          </p:nvPr>
        </p:nvSpPr>
        <p:spPr>
          <a:xfrm>
            <a:off x="2913063" y="8685213"/>
            <a:ext cx="222885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18334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815"/>
        </a:solidFill>
        <a:effectLst/>
      </p:bgPr>
    </p:bg>
    <p:spTree>
      <p:nvGrpSpPr>
        <p:cNvPr id="1" name="Shape 15"/>
        <p:cNvGrpSpPr/>
        <p:nvPr/>
      </p:nvGrpSpPr>
      <p:grpSpPr>
        <a:xfrm>
          <a:off x="0" y="0"/>
          <a:ext cx="0" cy="0"/>
          <a:chOff x="0" y="0"/>
          <a:chExt cx="0" cy="0"/>
        </a:xfrm>
      </p:grpSpPr>
      <p:pic>
        <p:nvPicPr>
          <p:cNvPr id="16" name="Google Shape;16;p3" descr="img/logo.png"/>
          <p:cNvPicPr preferRelativeResize="0"/>
          <p:nvPr/>
        </p:nvPicPr>
        <p:blipFill rotWithShape="1">
          <a:blip r:embed="rId3">
            <a:alphaModFix/>
          </a:blip>
          <a:srcRect/>
          <a:stretch/>
        </p:blipFill>
        <p:spPr>
          <a:xfrm>
            <a:off x="548640" y="384048"/>
            <a:ext cx="749808" cy="877824"/>
          </a:xfrm>
          <a:prstGeom prst="rect">
            <a:avLst/>
          </a:prstGeom>
          <a:noFill/>
          <a:ln>
            <a:noFill/>
          </a:ln>
        </p:spPr>
      </p:pic>
      <p:sp>
        <p:nvSpPr>
          <p:cNvPr id="17" name="Google Shape;17;p3"/>
          <p:cNvSpPr txBox="1"/>
          <p:nvPr/>
        </p:nvSpPr>
        <p:spPr>
          <a:xfrm>
            <a:off x="548640" y="1481328"/>
            <a:ext cx="80467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A33D"/>
              </a:buClr>
              <a:buSzPts val="1050"/>
              <a:buFont typeface="Calibri"/>
              <a:buNone/>
            </a:pPr>
            <a:r>
              <a:rPr lang="en-US" sz="1050" b="1" i="0" u="none" strike="noStrike" cap="none">
                <a:solidFill>
                  <a:srgbClr val="E8A33D"/>
                </a:solidFill>
                <a:latin typeface="Calibri"/>
                <a:ea typeface="Calibri"/>
                <a:cs typeface="Calibri"/>
                <a:sym typeface="Calibri"/>
              </a:rPr>
              <a:t>УНИВЕРЗИТЕТ У БЕОГРАДУ  ·  ЕЛЕКТРОТЕХНИЧКИ ФАКУЛТЕТ</a:t>
            </a:r>
            <a:endParaRPr sz="1050" b="0" i="0" u="none" strike="noStrike" cap="none">
              <a:solidFill>
                <a:schemeClr val="dk1"/>
              </a:solidFill>
              <a:latin typeface="Calibri"/>
              <a:ea typeface="Calibri"/>
              <a:cs typeface="Calibri"/>
              <a:sym typeface="Calibri"/>
            </a:endParaRPr>
          </a:p>
        </p:txBody>
      </p:sp>
      <p:sp>
        <p:nvSpPr>
          <p:cNvPr id="18" name="Google Shape;18;p3"/>
          <p:cNvSpPr txBox="1"/>
          <p:nvPr/>
        </p:nvSpPr>
        <p:spPr>
          <a:xfrm>
            <a:off x="548640" y="1810512"/>
            <a:ext cx="8046720" cy="11430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FFFFFF"/>
              </a:buClr>
              <a:buSzPts val="2700"/>
              <a:buFont typeface="Cambria"/>
              <a:buNone/>
            </a:pPr>
            <a:r>
              <a:rPr lang="en-US" sz="2700" b="1" i="0" u="none" strike="noStrike" cap="none">
                <a:solidFill>
                  <a:srgbClr val="FFFFFF"/>
                </a:solidFill>
                <a:latin typeface="Cambria"/>
                <a:ea typeface="Cambria"/>
                <a:cs typeface="Cambria"/>
                <a:sym typeface="Cambria"/>
              </a:rPr>
              <a:t>Развој апликације за подршку у читању</a:t>
            </a:r>
            <a:endParaRPr sz="2700" b="0" i="0" u="none" strike="noStrike" cap="none">
              <a:solidFill>
                <a:schemeClr val="dk1"/>
              </a:solidFill>
              <a:latin typeface="Calibri"/>
              <a:ea typeface="Calibri"/>
              <a:cs typeface="Calibri"/>
              <a:sym typeface="Calibri"/>
            </a:endParaRPr>
          </a:p>
          <a:p>
            <a:pPr marL="0" marR="0" lvl="0" indent="0" algn="l" rtl="0">
              <a:lnSpc>
                <a:spcPct val="108000"/>
              </a:lnSpc>
              <a:spcBef>
                <a:spcPts val="0"/>
              </a:spcBef>
              <a:spcAft>
                <a:spcPts val="0"/>
              </a:spcAft>
              <a:buClr>
                <a:srgbClr val="FFFFFF"/>
              </a:buClr>
              <a:buSzPts val="2700"/>
              <a:buFont typeface="Cambria"/>
              <a:buNone/>
            </a:pPr>
            <a:r>
              <a:rPr lang="en-US" sz="2700" b="1" i="0" u="none" strike="noStrike" cap="none">
                <a:solidFill>
                  <a:srgbClr val="FFFFFF"/>
                </a:solidFill>
                <a:latin typeface="Cambria"/>
                <a:ea typeface="Cambria"/>
                <a:cs typeface="Cambria"/>
                <a:sym typeface="Cambria"/>
              </a:rPr>
              <a:t>коришћењем адаптивне брзине и RSVP приказа текста</a:t>
            </a:r>
            <a:endParaRPr sz="2700" b="0" i="0" u="none" strike="noStrike" cap="none">
              <a:solidFill>
                <a:schemeClr val="dk1"/>
              </a:solidFill>
              <a:latin typeface="Calibri"/>
              <a:ea typeface="Calibri"/>
              <a:cs typeface="Calibri"/>
              <a:sym typeface="Calibri"/>
            </a:endParaRPr>
          </a:p>
        </p:txBody>
      </p:sp>
      <p:sp>
        <p:nvSpPr>
          <p:cNvPr id="19" name="Google Shape;19;p3"/>
          <p:cNvSpPr txBox="1"/>
          <p:nvPr/>
        </p:nvSpPr>
        <p:spPr>
          <a:xfrm>
            <a:off x="548640" y="3035808"/>
            <a:ext cx="8046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DCC5"/>
              </a:buClr>
              <a:buSzPts val="1300"/>
              <a:buFont typeface="Calibri"/>
              <a:buNone/>
            </a:pPr>
            <a:r>
              <a:rPr lang="en-US" sz="1300" b="0" i="0" u="none" strike="noStrike" cap="none">
                <a:solidFill>
                  <a:srgbClr val="E9DCC5"/>
                </a:solidFill>
                <a:latin typeface="Calibri"/>
                <a:ea typeface="Calibri"/>
                <a:cs typeface="Calibri"/>
                <a:sym typeface="Calibri"/>
              </a:rPr>
              <a:t>Мастер рад  ·  модул Софтверско инжењерство</a:t>
            </a:r>
            <a:endParaRPr sz="1300" b="0" i="0" u="none" strike="noStrike" cap="none">
              <a:solidFill>
                <a:schemeClr val="dk1"/>
              </a:solidFill>
              <a:latin typeface="Calibri"/>
              <a:ea typeface="Calibri"/>
              <a:cs typeface="Calibri"/>
              <a:sym typeface="Calibri"/>
            </a:endParaRPr>
          </a:p>
        </p:txBody>
      </p:sp>
      <p:sp>
        <p:nvSpPr>
          <p:cNvPr id="20" name="Google Shape;20;p3"/>
          <p:cNvSpPr txBox="1"/>
          <p:nvPr/>
        </p:nvSpPr>
        <p:spPr>
          <a:xfrm>
            <a:off x="548640" y="3858768"/>
            <a:ext cx="36576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A33D"/>
              </a:buClr>
              <a:buSzPts val="1000"/>
              <a:buFont typeface="Calibri"/>
              <a:buNone/>
            </a:pPr>
            <a:r>
              <a:rPr lang="en-US" sz="1000" b="1" i="0" u="none" strike="noStrike" cap="none">
                <a:solidFill>
                  <a:srgbClr val="E8A33D"/>
                </a:solidFill>
                <a:latin typeface="Calibri"/>
                <a:ea typeface="Calibri"/>
                <a:cs typeface="Calibri"/>
                <a:sym typeface="Calibri"/>
              </a:rPr>
              <a:t>Ментор</a:t>
            </a:r>
            <a:br>
              <a:rPr lang="en-US" sz="1000" b="1" i="0" u="none" strike="noStrike" cap="none">
                <a:solidFill>
                  <a:srgbClr val="E8A33D"/>
                </a:solidFill>
                <a:latin typeface="Calibri"/>
                <a:ea typeface="Calibri"/>
                <a:cs typeface="Calibri"/>
                <a:sym typeface="Calibri"/>
              </a:rPr>
            </a:br>
            <a:r>
              <a:rPr lang="en-US" sz="1350" b="0" i="0" u="none" strike="noStrike" cap="none">
                <a:solidFill>
                  <a:srgbClr val="FFFFFF"/>
                </a:solidFill>
                <a:latin typeface="Calibri"/>
                <a:ea typeface="Calibri"/>
                <a:cs typeface="Calibri"/>
                <a:sym typeface="Calibri"/>
              </a:rPr>
              <a:t>проф. др Милош Цветановић</a:t>
            </a:r>
            <a:endParaRPr sz="1000" b="0" i="0" u="none" strike="noStrike" cap="none">
              <a:solidFill>
                <a:schemeClr val="dk1"/>
              </a:solidFill>
              <a:latin typeface="Calibri"/>
              <a:ea typeface="Calibri"/>
              <a:cs typeface="Calibri"/>
              <a:sym typeface="Calibri"/>
            </a:endParaRPr>
          </a:p>
        </p:txBody>
      </p:sp>
      <p:sp>
        <p:nvSpPr>
          <p:cNvPr id="21" name="Google Shape;21;p3"/>
          <p:cNvSpPr txBox="1"/>
          <p:nvPr/>
        </p:nvSpPr>
        <p:spPr>
          <a:xfrm>
            <a:off x="4434840" y="3858768"/>
            <a:ext cx="41148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A33D"/>
              </a:buClr>
              <a:buSzPts val="1000"/>
              <a:buFont typeface="Calibri"/>
              <a:buNone/>
            </a:pPr>
            <a:r>
              <a:rPr lang="en-US" sz="1000" b="1" i="0" u="none" strike="noStrike" cap="none">
                <a:solidFill>
                  <a:srgbClr val="E8A33D"/>
                </a:solidFill>
                <a:latin typeface="Calibri"/>
                <a:ea typeface="Calibri"/>
                <a:cs typeface="Calibri"/>
                <a:sym typeface="Calibri"/>
              </a:rPr>
              <a:t>Кандидат</a:t>
            </a:r>
            <a:br>
              <a:rPr lang="en-US" sz="1000" b="1" i="0" u="none" strike="noStrike" cap="none">
                <a:solidFill>
                  <a:srgbClr val="E8A33D"/>
                </a:solidFill>
                <a:latin typeface="Calibri"/>
                <a:ea typeface="Calibri"/>
                <a:cs typeface="Calibri"/>
                <a:sym typeface="Calibri"/>
              </a:rPr>
            </a:br>
            <a:r>
              <a:rPr lang="en-US" sz="1350" b="0" i="0" u="none" strike="noStrike" cap="none">
                <a:solidFill>
                  <a:srgbClr val="FFFFFF"/>
                </a:solidFill>
                <a:latin typeface="Calibri"/>
                <a:ea typeface="Calibri"/>
                <a:cs typeface="Calibri"/>
                <a:sym typeface="Calibri"/>
              </a:rPr>
              <a:t>Вук Алексијевић  2024/3032</a:t>
            </a:r>
            <a:endParaRPr sz="1000" b="0" i="0" u="none" strike="noStrike" cap="none">
              <a:solidFill>
                <a:schemeClr val="dk1"/>
              </a:solidFill>
              <a:latin typeface="Calibri"/>
              <a:ea typeface="Calibri"/>
              <a:cs typeface="Calibri"/>
              <a:sym typeface="Calibri"/>
            </a:endParaRPr>
          </a:p>
        </p:txBody>
      </p:sp>
      <p:sp>
        <p:nvSpPr>
          <p:cNvPr id="22" name="Google Shape;22;p3"/>
          <p:cNvSpPr txBox="1"/>
          <p:nvPr/>
        </p:nvSpPr>
        <p:spPr>
          <a:xfrm>
            <a:off x="548640" y="4572000"/>
            <a:ext cx="8046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8176"/>
              </a:buClr>
              <a:buSzPts val="1100"/>
              <a:buFont typeface="Calibri"/>
              <a:buNone/>
            </a:pPr>
            <a:r>
              <a:rPr lang="en-US" sz="1100" b="0" i="0" u="none" strike="noStrike" cap="none">
                <a:solidFill>
                  <a:srgbClr val="8A8176"/>
                </a:solidFill>
                <a:latin typeface="Calibri"/>
                <a:ea typeface="Calibri"/>
                <a:cs typeface="Calibri"/>
                <a:sym typeface="Calibri"/>
              </a:rPr>
              <a:t>Београд, август 2026.</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Shape 27"/>
        <p:cNvGrpSpPr/>
        <p:nvPr/>
      </p:nvGrpSpPr>
      <p:grpSpPr>
        <a:xfrm>
          <a:off x="0" y="0"/>
          <a:ext cx="0" cy="0"/>
          <a:chOff x="0" y="0"/>
          <a:chExt cx="0" cy="0"/>
        </a:xfrm>
      </p:grpSpPr>
      <p:sp>
        <p:nvSpPr>
          <p:cNvPr id="28" name="Google Shape;28;p4"/>
          <p:cNvSpPr txBox="1"/>
          <p:nvPr/>
        </p:nvSpPr>
        <p:spPr>
          <a:xfrm>
            <a:off x="502920" y="274320"/>
            <a:ext cx="81381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i="0" u="none" strike="noStrike" cap="none">
                <a:solidFill>
                  <a:srgbClr val="AE7413"/>
                </a:solidFill>
                <a:latin typeface="Calibri"/>
                <a:ea typeface="Calibri"/>
                <a:cs typeface="Calibri"/>
                <a:sym typeface="Calibri"/>
              </a:rPr>
              <a:t>МОТИВАЦИЈА</a:t>
            </a:r>
            <a:endParaRPr sz="1000" b="0" i="0" u="none" strike="noStrike" cap="none">
              <a:solidFill>
                <a:schemeClr val="dk1"/>
              </a:solidFill>
              <a:latin typeface="Calibri"/>
              <a:ea typeface="Calibri"/>
              <a:cs typeface="Calibri"/>
              <a:sym typeface="Calibri"/>
            </a:endParaRPr>
          </a:p>
        </p:txBody>
      </p:sp>
      <p:sp>
        <p:nvSpPr>
          <p:cNvPr id="29" name="Google Shape;29;p4"/>
          <p:cNvSpPr txBox="1"/>
          <p:nvPr/>
        </p:nvSpPr>
        <p:spPr>
          <a:xfrm>
            <a:off x="502920" y="512064"/>
            <a:ext cx="8138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2600"/>
              <a:buFont typeface="Cambria"/>
              <a:buNone/>
            </a:pPr>
            <a:r>
              <a:rPr lang="en-US" sz="2600" b="1" i="0" u="none" strike="noStrike" cap="none">
                <a:solidFill>
                  <a:srgbClr val="1B1815"/>
                </a:solidFill>
                <a:latin typeface="Cambria"/>
                <a:ea typeface="Cambria"/>
                <a:cs typeface="Cambria"/>
                <a:sym typeface="Cambria"/>
              </a:rPr>
              <a:t>Шта RSVP решава, а шта одузима</a:t>
            </a:r>
            <a:endParaRPr sz="2600" b="0" i="0" u="none" strike="noStrike" cap="none">
              <a:solidFill>
                <a:schemeClr val="dk1"/>
              </a:solidFill>
              <a:latin typeface="Calibri"/>
              <a:ea typeface="Calibri"/>
              <a:cs typeface="Calibri"/>
              <a:sym typeface="Calibri"/>
            </a:endParaRPr>
          </a:p>
        </p:txBody>
      </p:sp>
      <p:sp>
        <p:nvSpPr>
          <p:cNvPr id="30" name="Google Shape;30;p4"/>
          <p:cNvSpPr txBox="1"/>
          <p:nvPr/>
        </p:nvSpPr>
        <p:spPr>
          <a:xfrm>
            <a:off x="8275320" y="4754880"/>
            <a:ext cx="4572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8176"/>
              </a:buClr>
              <a:buSzPts val="900"/>
              <a:buFont typeface="Calibri"/>
              <a:buNone/>
            </a:pPr>
            <a:r>
              <a:rPr lang="en-US" sz="900" b="0" i="0" u="none" strike="noStrike" cap="none">
                <a:solidFill>
                  <a:srgbClr val="8A8176"/>
                </a:solidFill>
                <a:latin typeface="Calibri"/>
                <a:ea typeface="Calibri"/>
                <a:cs typeface="Calibri"/>
                <a:sym typeface="Calibri"/>
              </a:rPr>
              <a:t>2</a:t>
            </a:r>
            <a:endParaRPr sz="900" b="0" i="0" u="none" strike="noStrike" cap="none">
              <a:solidFill>
                <a:schemeClr val="dk1"/>
              </a:solidFill>
              <a:latin typeface="Calibri"/>
              <a:ea typeface="Calibri"/>
              <a:cs typeface="Calibri"/>
              <a:sym typeface="Calibri"/>
            </a:endParaRPr>
          </a:p>
        </p:txBody>
      </p:sp>
      <p:sp>
        <p:nvSpPr>
          <p:cNvPr id="31" name="Google Shape;31;p4"/>
          <p:cNvSpPr txBox="1"/>
          <p:nvPr/>
        </p:nvSpPr>
        <p:spPr>
          <a:xfrm>
            <a:off x="502920" y="1115568"/>
            <a:ext cx="8138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150" b="0" i="0" u="none" strike="noStrike" cap="none">
                <a:solidFill>
                  <a:srgbClr val="3A342D"/>
                </a:solidFill>
                <a:latin typeface="Calibri"/>
                <a:ea typeface="Calibri"/>
                <a:cs typeface="Calibri"/>
                <a:sym typeface="Calibri"/>
              </a:rPr>
              <a:t>Класично читање се одвија низом наглих скокова (сакада) и заустављања (фиксација). RSVP тај образац мења: реч се приказује увек на истом месту, па поглед не путује кроз ред. Има ефекта, али је ужи него што маркетиншке тврдње сугеришу.</a:t>
            </a:r>
            <a:endParaRPr sz="1150">
              <a:solidFill>
                <a:schemeClr val="dk1"/>
              </a:solidFill>
              <a:latin typeface="Calibri"/>
              <a:ea typeface="Calibri"/>
              <a:cs typeface="Calibri"/>
              <a:sym typeface="Calibri"/>
            </a:endParaRPr>
          </a:p>
        </p:txBody>
      </p:sp>
      <p:sp>
        <p:nvSpPr>
          <p:cNvPr id="32" name="Google Shape;32;p4"/>
          <p:cNvSpPr/>
          <p:nvPr/>
        </p:nvSpPr>
        <p:spPr>
          <a:xfrm>
            <a:off x="502920" y="1737360"/>
            <a:ext cx="3913632" cy="1572768"/>
          </a:xfrm>
          <a:prstGeom prst="roundRect">
            <a:avLst>
              <a:gd name="adj" fmla="val 3488"/>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txBox="1"/>
          <p:nvPr/>
        </p:nvSpPr>
        <p:spPr>
          <a:xfrm>
            <a:off x="777240" y="1874520"/>
            <a:ext cx="33832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УКЛАЊА</a:t>
            </a:r>
            <a:endParaRPr sz="1000">
              <a:solidFill>
                <a:schemeClr val="dk1"/>
              </a:solidFill>
              <a:latin typeface="Calibri"/>
              <a:ea typeface="Calibri"/>
              <a:cs typeface="Calibri"/>
              <a:sym typeface="Calibri"/>
            </a:endParaRPr>
          </a:p>
        </p:txBody>
      </p:sp>
      <p:sp>
        <p:nvSpPr>
          <p:cNvPr id="34" name="Google Shape;34;p4"/>
          <p:cNvSpPr txBox="1"/>
          <p:nvPr/>
        </p:nvSpPr>
        <p:spPr>
          <a:xfrm>
            <a:off x="777240" y="2139696"/>
            <a:ext cx="3401568" cy="1097280"/>
          </a:xfrm>
          <a:prstGeom prst="rect">
            <a:avLst/>
          </a:prstGeom>
          <a:noFill/>
          <a:ln>
            <a:noFill/>
          </a:ln>
        </p:spPr>
        <p:txBody>
          <a:bodyPr spcFirstLastPara="1" wrap="square" lIns="0" tIns="0" rIns="0" bIns="0" anchor="ctr" anchorCtr="0">
            <a:noAutofit/>
          </a:bodyPr>
          <a:lstStyle/>
          <a:p>
            <a:pPr marL="457200" marR="0" lvl="0" indent="-298450" algn="l" rtl="0">
              <a:lnSpc>
                <a:spcPct val="100000"/>
              </a:lnSpc>
              <a:spcBef>
                <a:spcPts val="0"/>
              </a:spcBef>
              <a:spcAft>
                <a:spcPts val="0"/>
              </a:spcAft>
              <a:buClr>
                <a:srgbClr val="3A342D"/>
              </a:buClr>
              <a:buSzPts val="1100"/>
              <a:buFont typeface="Calibri"/>
              <a:buChar char="●"/>
            </a:pPr>
            <a:r>
              <a:rPr lang="en-US" sz="1100">
                <a:solidFill>
                  <a:srgbClr val="3A342D"/>
                </a:solidFill>
                <a:latin typeface="Calibri"/>
                <a:ea typeface="Calibri"/>
                <a:cs typeface="Calibri"/>
                <a:sym typeface="Calibri"/>
              </a:rPr>
              <a:t>Повратни скок на крају реда - најскупљи појединачни покрет</a:t>
            </a:r>
            <a:endParaRPr sz="1100">
              <a:solidFill>
                <a:schemeClr val="dk1"/>
              </a:solidFill>
              <a:latin typeface="Calibri"/>
              <a:ea typeface="Calibri"/>
              <a:cs typeface="Calibri"/>
              <a:sym typeface="Calibri"/>
            </a:endParaRPr>
          </a:p>
          <a:p>
            <a:pPr marL="457200" marR="0" lvl="0" indent="-298450" algn="l" rtl="0">
              <a:lnSpc>
                <a:spcPct val="100000"/>
              </a:lnSpc>
              <a:spcBef>
                <a:spcPts val="0"/>
              </a:spcBef>
              <a:spcAft>
                <a:spcPts val="0"/>
              </a:spcAft>
              <a:buClr>
                <a:srgbClr val="3A342D"/>
              </a:buClr>
              <a:buSzPts val="1100"/>
              <a:buFont typeface="Calibri"/>
              <a:buChar char="●"/>
            </a:pPr>
            <a:r>
              <a:rPr lang="en-US" sz="1100">
                <a:solidFill>
                  <a:srgbClr val="3A342D"/>
                </a:solidFill>
                <a:latin typeface="Calibri"/>
                <a:ea typeface="Calibri"/>
                <a:cs typeface="Calibri"/>
                <a:sym typeface="Calibri"/>
              </a:rPr>
              <a:t>Сакаде дуж реда; добит је највећа баш на малом екрану</a:t>
            </a:r>
            <a:endParaRPr sz="1100">
              <a:solidFill>
                <a:schemeClr val="dk1"/>
              </a:solidFill>
              <a:latin typeface="Calibri"/>
              <a:ea typeface="Calibri"/>
              <a:cs typeface="Calibri"/>
              <a:sym typeface="Calibri"/>
            </a:endParaRPr>
          </a:p>
        </p:txBody>
      </p:sp>
      <p:sp>
        <p:nvSpPr>
          <p:cNvPr id="35" name="Google Shape;35;p4"/>
          <p:cNvSpPr/>
          <p:nvPr/>
        </p:nvSpPr>
        <p:spPr>
          <a:xfrm>
            <a:off x="4727448" y="1737360"/>
            <a:ext cx="3913632" cy="1572768"/>
          </a:xfrm>
          <a:prstGeom prst="roundRect">
            <a:avLst>
              <a:gd name="adj" fmla="val 3488"/>
            </a:avLst>
          </a:prstGeom>
          <a:solidFill>
            <a:srgbClr val="E9DCC5"/>
          </a:solidFill>
          <a:ln w="12700" cap="flat" cmpd="sng">
            <a:solidFill>
              <a:srgbClr val="E9DC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txBox="1"/>
          <p:nvPr/>
        </p:nvSpPr>
        <p:spPr>
          <a:xfrm>
            <a:off x="5001768" y="1874520"/>
            <a:ext cx="33832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2F2A"/>
              </a:buClr>
              <a:buSzPts val="1000"/>
              <a:buFont typeface="Calibri"/>
              <a:buNone/>
            </a:pPr>
            <a:r>
              <a:rPr lang="en-US" sz="1000" b="1">
                <a:solidFill>
                  <a:srgbClr val="8C2F2A"/>
                </a:solidFill>
                <a:latin typeface="Calibri"/>
                <a:ea typeface="Calibri"/>
                <a:cs typeface="Calibri"/>
                <a:sym typeface="Calibri"/>
              </a:rPr>
              <a:t>ОДУЗИМА</a:t>
            </a:r>
            <a:endParaRPr sz="1000">
              <a:solidFill>
                <a:schemeClr val="dk1"/>
              </a:solidFill>
              <a:latin typeface="Calibri"/>
              <a:ea typeface="Calibri"/>
              <a:cs typeface="Calibri"/>
              <a:sym typeface="Calibri"/>
            </a:endParaRPr>
          </a:p>
        </p:txBody>
      </p:sp>
      <p:sp>
        <p:nvSpPr>
          <p:cNvPr id="37" name="Google Shape;37;p4"/>
          <p:cNvSpPr txBox="1"/>
          <p:nvPr/>
        </p:nvSpPr>
        <p:spPr>
          <a:xfrm>
            <a:off x="5001768" y="2139696"/>
            <a:ext cx="3401568" cy="1097280"/>
          </a:xfrm>
          <a:prstGeom prst="rect">
            <a:avLst/>
          </a:prstGeom>
          <a:noFill/>
          <a:ln>
            <a:noFill/>
          </a:ln>
        </p:spPr>
        <p:txBody>
          <a:bodyPr spcFirstLastPara="1" wrap="square" lIns="0" tIns="0" rIns="0" bIns="0" anchor="ctr" anchorCtr="0">
            <a:noAutofit/>
          </a:bodyPr>
          <a:lstStyle/>
          <a:p>
            <a:pPr marL="457200" marR="0" lvl="0" indent="-298450" algn="l" rtl="0">
              <a:spcBef>
                <a:spcPts val="0"/>
              </a:spcBef>
              <a:spcAft>
                <a:spcPts val="0"/>
              </a:spcAft>
              <a:buClr>
                <a:srgbClr val="3A342D"/>
              </a:buClr>
              <a:buSzPts val="1100"/>
              <a:buFont typeface="Calibri"/>
              <a:buChar char="●"/>
            </a:pPr>
            <a:r>
              <a:rPr lang="en-US" sz="1100">
                <a:solidFill>
                  <a:srgbClr val="3A342D"/>
                </a:solidFill>
                <a:latin typeface="Calibri"/>
                <a:ea typeface="Calibri"/>
                <a:cs typeface="Calibri"/>
                <a:sym typeface="Calibri"/>
              </a:rPr>
              <a:t>Парафовеалну припрему</a:t>
            </a:r>
            <a:endParaRPr sz="1100">
              <a:solidFill>
                <a:schemeClr val="dk1"/>
              </a:solidFill>
              <a:latin typeface="Calibri"/>
              <a:ea typeface="Calibri"/>
              <a:cs typeface="Calibri"/>
              <a:sym typeface="Calibri"/>
            </a:endParaRPr>
          </a:p>
          <a:p>
            <a:pPr marL="457200" marR="0" lvl="0" indent="-298450" algn="l" rtl="0">
              <a:lnSpc>
                <a:spcPct val="100000"/>
              </a:lnSpc>
              <a:spcBef>
                <a:spcPts val="0"/>
              </a:spcBef>
              <a:spcAft>
                <a:spcPts val="0"/>
              </a:spcAft>
              <a:buClr>
                <a:srgbClr val="3A342D"/>
              </a:buClr>
              <a:buSzPts val="1100"/>
              <a:buFont typeface="Calibri"/>
              <a:buChar char="●"/>
            </a:pPr>
            <a:r>
              <a:rPr lang="en-US" sz="1100">
                <a:solidFill>
                  <a:srgbClr val="3A342D"/>
                </a:solidFill>
                <a:latin typeface="Calibri"/>
                <a:ea typeface="Calibri"/>
                <a:cs typeface="Calibri"/>
                <a:sym typeface="Calibri"/>
              </a:rPr>
              <a:t>Регресије, које нису сувишне него помажу разумевању</a:t>
            </a:r>
            <a:endParaRPr sz="1100">
              <a:solidFill>
                <a:schemeClr val="dk1"/>
              </a:solidFill>
              <a:latin typeface="Calibri"/>
              <a:ea typeface="Calibri"/>
              <a:cs typeface="Calibri"/>
              <a:sym typeface="Calibri"/>
            </a:endParaRPr>
          </a:p>
        </p:txBody>
      </p:sp>
      <p:sp>
        <p:nvSpPr>
          <p:cNvPr id="38" name="Google Shape;38;p4"/>
          <p:cNvSpPr txBox="1"/>
          <p:nvPr/>
        </p:nvSpPr>
        <p:spPr>
          <a:xfrm>
            <a:off x="502920" y="3493008"/>
            <a:ext cx="25603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2F2A"/>
              </a:buClr>
              <a:buSzPts val="2600"/>
              <a:buFont typeface="Cambria"/>
              <a:buNone/>
            </a:pPr>
            <a:r>
              <a:rPr lang="en-US" sz="2600" b="1">
                <a:solidFill>
                  <a:srgbClr val="8C2F2A"/>
                </a:solidFill>
                <a:latin typeface="Cambria"/>
                <a:ea typeface="Cambria"/>
                <a:cs typeface="Cambria"/>
                <a:sym typeface="Cambria"/>
              </a:rPr>
              <a:t>85–90 %</a:t>
            </a:r>
            <a:endParaRPr sz="2600">
              <a:solidFill>
                <a:schemeClr val="dk1"/>
              </a:solidFill>
              <a:latin typeface="Calibri"/>
              <a:ea typeface="Calibri"/>
              <a:cs typeface="Calibri"/>
              <a:sym typeface="Calibri"/>
            </a:endParaRPr>
          </a:p>
        </p:txBody>
      </p:sp>
      <p:sp>
        <p:nvSpPr>
          <p:cNvPr id="39" name="Google Shape;39;p4"/>
          <p:cNvSpPr txBox="1"/>
          <p:nvPr/>
        </p:nvSpPr>
        <p:spPr>
          <a:xfrm>
            <a:off x="502920" y="3913632"/>
            <a:ext cx="260604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42D"/>
              </a:buClr>
              <a:buSzPts val="1050"/>
              <a:buFont typeface="Calibri"/>
              <a:buNone/>
            </a:pPr>
            <a:r>
              <a:rPr lang="en-US" sz="1050">
                <a:solidFill>
                  <a:srgbClr val="3A342D"/>
                </a:solidFill>
                <a:latin typeface="Calibri"/>
                <a:ea typeface="Calibri"/>
                <a:cs typeface="Calibri"/>
                <a:sym typeface="Calibri"/>
              </a:rPr>
              <a:t>времена читања одлази на</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3A342D"/>
              </a:buClr>
              <a:buSzPts val="1050"/>
              <a:buFont typeface="Calibri"/>
              <a:buNone/>
            </a:pPr>
            <a:r>
              <a:rPr lang="en-US" sz="1050">
                <a:solidFill>
                  <a:srgbClr val="3A342D"/>
                </a:solidFill>
                <a:latin typeface="Calibri"/>
                <a:ea typeface="Calibri"/>
                <a:cs typeface="Calibri"/>
                <a:sym typeface="Calibri"/>
              </a:rPr>
              <a:t>фиксације, ~10 % на покрете</a:t>
            </a:r>
            <a:endParaRPr sz="1050">
              <a:solidFill>
                <a:schemeClr val="dk1"/>
              </a:solidFill>
              <a:latin typeface="Calibri"/>
              <a:ea typeface="Calibri"/>
              <a:cs typeface="Calibri"/>
              <a:sym typeface="Calibri"/>
            </a:endParaRPr>
          </a:p>
        </p:txBody>
      </p:sp>
      <p:sp>
        <p:nvSpPr>
          <p:cNvPr id="40" name="Google Shape;40;p4"/>
          <p:cNvSpPr txBox="1"/>
          <p:nvPr/>
        </p:nvSpPr>
        <p:spPr>
          <a:xfrm>
            <a:off x="3273552" y="3493008"/>
            <a:ext cx="25603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2F2A"/>
              </a:buClr>
              <a:buSzPts val="2600"/>
              <a:buFont typeface="Cambria"/>
              <a:buNone/>
            </a:pPr>
            <a:r>
              <a:rPr lang="en-US" sz="2600" b="1">
                <a:solidFill>
                  <a:srgbClr val="8C2F2A"/>
                </a:solidFill>
                <a:latin typeface="Cambria"/>
                <a:ea typeface="Cambria"/>
                <a:cs typeface="Cambria"/>
                <a:sym typeface="Cambria"/>
              </a:rPr>
              <a:t>10–15 %</a:t>
            </a:r>
            <a:endParaRPr sz="2600">
              <a:solidFill>
                <a:schemeClr val="dk1"/>
              </a:solidFill>
              <a:latin typeface="Calibri"/>
              <a:ea typeface="Calibri"/>
              <a:cs typeface="Calibri"/>
              <a:sym typeface="Calibri"/>
            </a:endParaRPr>
          </a:p>
        </p:txBody>
      </p:sp>
      <p:sp>
        <p:nvSpPr>
          <p:cNvPr id="41" name="Google Shape;41;p4"/>
          <p:cNvSpPr txBox="1"/>
          <p:nvPr/>
        </p:nvSpPr>
        <p:spPr>
          <a:xfrm>
            <a:off x="3273552" y="3913632"/>
            <a:ext cx="260604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42D"/>
              </a:buClr>
              <a:buSzPts val="1050"/>
              <a:buFont typeface="Calibri"/>
              <a:buNone/>
            </a:pPr>
            <a:r>
              <a:rPr lang="en-US" sz="1050">
                <a:solidFill>
                  <a:srgbClr val="3A342D"/>
                </a:solidFill>
                <a:latin typeface="Calibri"/>
                <a:ea typeface="Calibri"/>
                <a:cs typeface="Calibri"/>
                <a:sym typeface="Calibri"/>
              </a:rPr>
              <a:t>покрета очију су регресије</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3A342D"/>
              </a:buClr>
              <a:buSzPts val="1050"/>
              <a:buFont typeface="Calibri"/>
              <a:buNone/>
            </a:pPr>
            <a:r>
              <a:rPr lang="en-US" sz="1050">
                <a:solidFill>
                  <a:srgbClr val="3A342D"/>
                </a:solidFill>
                <a:latin typeface="Calibri"/>
                <a:ea typeface="Calibri"/>
                <a:cs typeface="Calibri"/>
                <a:sym typeface="Calibri"/>
              </a:rPr>
              <a:t>(Schotter, Tran, Rayner)</a:t>
            </a:r>
            <a:endParaRPr sz="1050">
              <a:solidFill>
                <a:schemeClr val="dk1"/>
              </a:solidFill>
              <a:latin typeface="Calibri"/>
              <a:ea typeface="Calibri"/>
              <a:cs typeface="Calibri"/>
              <a:sym typeface="Calibri"/>
            </a:endParaRPr>
          </a:p>
        </p:txBody>
      </p:sp>
      <p:sp>
        <p:nvSpPr>
          <p:cNvPr id="42" name="Google Shape;42;p4"/>
          <p:cNvSpPr txBox="1"/>
          <p:nvPr/>
        </p:nvSpPr>
        <p:spPr>
          <a:xfrm>
            <a:off x="6044184" y="3493008"/>
            <a:ext cx="25603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2F2A"/>
              </a:buClr>
              <a:buSzPts val="2600"/>
              <a:buFont typeface="Cambria"/>
              <a:buNone/>
            </a:pPr>
            <a:r>
              <a:rPr lang="en-US" sz="2600" b="1">
                <a:solidFill>
                  <a:srgbClr val="8C2F2A"/>
                </a:solidFill>
                <a:latin typeface="Cambria"/>
                <a:ea typeface="Cambria"/>
                <a:cs typeface="Cambria"/>
                <a:sym typeface="Cambria"/>
              </a:rPr>
              <a:t>238 WPM</a:t>
            </a:r>
            <a:endParaRPr sz="2600">
              <a:solidFill>
                <a:schemeClr val="dk1"/>
              </a:solidFill>
              <a:latin typeface="Calibri"/>
              <a:ea typeface="Calibri"/>
              <a:cs typeface="Calibri"/>
              <a:sym typeface="Calibri"/>
            </a:endParaRPr>
          </a:p>
        </p:txBody>
      </p:sp>
      <p:sp>
        <p:nvSpPr>
          <p:cNvPr id="43" name="Google Shape;43;p4"/>
          <p:cNvSpPr txBox="1"/>
          <p:nvPr/>
        </p:nvSpPr>
        <p:spPr>
          <a:xfrm>
            <a:off x="6044184" y="3913632"/>
            <a:ext cx="260604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42D"/>
              </a:buClr>
              <a:buSzPts val="1050"/>
              <a:buFont typeface="Calibri"/>
              <a:buNone/>
            </a:pPr>
            <a:r>
              <a:rPr lang="en-US" sz="1050">
                <a:solidFill>
                  <a:srgbClr val="3A342D"/>
                </a:solidFill>
                <a:latin typeface="Calibri"/>
                <a:ea typeface="Calibri"/>
                <a:cs typeface="Calibri"/>
                <a:sym typeface="Calibri"/>
              </a:rPr>
              <a:t>просечно тихо читање</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3A342D"/>
              </a:buClr>
              <a:buSzPts val="1050"/>
              <a:buFont typeface="Calibri"/>
              <a:buNone/>
            </a:pPr>
            <a:r>
              <a:rPr lang="en-US" sz="1050">
                <a:solidFill>
                  <a:srgbClr val="3A342D"/>
                </a:solidFill>
                <a:latin typeface="Calibri"/>
                <a:ea typeface="Calibri"/>
                <a:cs typeface="Calibri"/>
                <a:sym typeface="Calibri"/>
              </a:rPr>
              <a:t>стручног текста (мета-анализа)</a:t>
            </a:r>
            <a:endParaRPr sz="10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Shape 48"/>
        <p:cNvGrpSpPr/>
        <p:nvPr/>
      </p:nvGrpSpPr>
      <p:grpSpPr>
        <a:xfrm>
          <a:off x="0" y="0"/>
          <a:ext cx="0" cy="0"/>
          <a:chOff x="0" y="0"/>
          <a:chExt cx="0" cy="0"/>
        </a:xfrm>
      </p:grpSpPr>
      <p:sp>
        <p:nvSpPr>
          <p:cNvPr id="49" name="Google Shape;49;p5"/>
          <p:cNvSpPr txBox="1"/>
          <p:nvPr/>
        </p:nvSpPr>
        <p:spPr>
          <a:xfrm>
            <a:off x="502920" y="274320"/>
            <a:ext cx="81381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АРХИТЕКТУРА</a:t>
            </a:r>
            <a:endParaRPr sz="1000">
              <a:solidFill>
                <a:schemeClr val="dk1"/>
              </a:solidFill>
              <a:latin typeface="Calibri"/>
              <a:ea typeface="Calibri"/>
              <a:cs typeface="Calibri"/>
              <a:sym typeface="Calibri"/>
            </a:endParaRPr>
          </a:p>
        </p:txBody>
      </p:sp>
      <p:sp>
        <p:nvSpPr>
          <p:cNvPr id="50" name="Google Shape;50;p5"/>
          <p:cNvSpPr txBox="1"/>
          <p:nvPr/>
        </p:nvSpPr>
        <p:spPr>
          <a:xfrm>
            <a:off x="502920" y="512064"/>
            <a:ext cx="8138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2600"/>
              <a:buFont typeface="Cambria"/>
              <a:buNone/>
            </a:pPr>
            <a:r>
              <a:rPr lang="en-US" sz="2600" b="1">
                <a:solidFill>
                  <a:srgbClr val="1B1815"/>
                </a:solidFill>
                <a:latin typeface="Cambria"/>
                <a:ea typeface="Cambria"/>
                <a:cs typeface="Cambria"/>
                <a:sym typeface="Cambria"/>
              </a:rPr>
              <a:t>Три слоја и једносмеран ток стања</a:t>
            </a:r>
            <a:endParaRPr sz="2600">
              <a:solidFill>
                <a:schemeClr val="dk1"/>
              </a:solidFill>
              <a:latin typeface="Calibri"/>
              <a:ea typeface="Calibri"/>
              <a:cs typeface="Calibri"/>
              <a:sym typeface="Calibri"/>
            </a:endParaRPr>
          </a:p>
        </p:txBody>
      </p:sp>
      <p:sp>
        <p:nvSpPr>
          <p:cNvPr id="51" name="Google Shape;51;p5"/>
          <p:cNvSpPr txBox="1"/>
          <p:nvPr/>
        </p:nvSpPr>
        <p:spPr>
          <a:xfrm>
            <a:off x="8275320" y="4754880"/>
            <a:ext cx="4572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8176"/>
              </a:buClr>
              <a:buSzPts val="900"/>
              <a:buFont typeface="Calibri"/>
              <a:buNone/>
            </a:pPr>
            <a:r>
              <a:rPr lang="en-US" sz="900">
                <a:solidFill>
                  <a:srgbClr val="8A8176"/>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pic>
        <p:nvPicPr>
          <p:cNvPr id="52" name="Google Shape;52;p5" descr="img/arh.png"/>
          <p:cNvPicPr preferRelativeResize="0"/>
          <p:nvPr/>
        </p:nvPicPr>
        <p:blipFill rotWithShape="1">
          <a:blip r:embed="rId3">
            <a:alphaModFix/>
          </a:blip>
          <a:srcRect/>
          <a:stretch/>
        </p:blipFill>
        <p:spPr>
          <a:xfrm>
            <a:off x="502920" y="1097280"/>
            <a:ext cx="2999232" cy="3456432"/>
          </a:xfrm>
          <a:prstGeom prst="rect">
            <a:avLst/>
          </a:prstGeom>
          <a:noFill/>
          <a:ln>
            <a:noFill/>
          </a:ln>
        </p:spPr>
      </p:pic>
      <p:sp>
        <p:nvSpPr>
          <p:cNvPr id="53" name="Google Shape;53;p5"/>
          <p:cNvSpPr/>
          <p:nvPr/>
        </p:nvSpPr>
        <p:spPr>
          <a:xfrm>
            <a:off x="3794760" y="1097280"/>
            <a:ext cx="4846320" cy="3456432"/>
          </a:xfrm>
          <a:prstGeom prst="roundRect">
            <a:avLst>
              <a:gd name="adj" fmla="val 1587"/>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txBox="1"/>
          <p:nvPr/>
        </p:nvSpPr>
        <p:spPr>
          <a:xfrm>
            <a:off x="4069080" y="1325880"/>
            <a:ext cx="4297680" cy="3017520"/>
          </a:xfrm>
          <a:prstGeom prst="rect">
            <a:avLst/>
          </a:prstGeom>
          <a:noFill/>
          <a:ln>
            <a:noFill/>
          </a:ln>
        </p:spPr>
        <p:txBody>
          <a:bodyPr spcFirstLastPara="1" wrap="square" lIns="0" tIns="0" rIns="0" bIns="0" anchor="ctr" anchorCtr="0">
            <a:noAutofit/>
          </a:bodyPr>
          <a:lstStyle/>
          <a:p>
            <a:pPr marL="457200" marR="0" lvl="0" indent="-298450" algn="l" rtl="0">
              <a:lnSpc>
                <a:spcPct val="100000"/>
              </a:lnSpc>
              <a:spcBef>
                <a:spcPts val="0"/>
              </a:spcBef>
              <a:spcAft>
                <a:spcPts val="0"/>
              </a:spcAft>
              <a:buClr>
                <a:srgbClr val="3A342D"/>
              </a:buClr>
              <a:buSzPts val="1100"/>
              <a:buFont typeface="Calibri"/>
              <a:buChar char="●"/>
            </a:pPr>
            <a:r>
              <a:rPr lang="en-US" sz="1100">
                <a:solidFill>
                  <a:srgbClr val="3A342D"/>
                </a:solidFill>
                <a:latin typeface="Calibri"/>
                <a:ea typeface="Calibri"/>
                <a:cs typeface="Calibri"/>
                <a:sym typeface="Calibri"/>
              </a:rPr>
              <a:t>Ток је једносмеран: приказ шаље догађаје надоле, прима стање нагоре, а стање не мења непосредно.</a:t>
            </a:r>
            <a:endParaRPr sz="1100">
              <a:solidFill>
                <a:schemeClr val="dk1"/>
              </a:solidFill>
              <a:latin typeface="Calibri"/>
              <a:ea typeface="Calibri"/>
              <a:cs typeface="Calibri"/>
              <a:sym typeface="Calibri"/>
            </a:endParaRPr>
          </a:p>
          <a:p>
            <a:pPr marL="457200" marR="0" lvl="0" indent="-298450" algn="l" rtl="0">
              <a:spcBef>
                <a:spcPts val="0"/>
              </a:spcBef>
              <a:spcAft>
                <a:spcPts val="0"/>
              </a:spcAft>
              <a:buClr>
                <a:srgbClr val="3A342D"/>
              </a:buClr>
              <a:buSzPts val="1100"/>
              <a:buFont typeface="Calibri"/>
              <a:buChar char="●"/>
            </a:pPr>
            <a:r>
              <a:rPr lang="en-US" sz="1100">
                <a:solidFill>
                  <a:srgbClr val="3A342D"/>
                </a:solidFill>
                <a:latin typeface="Calibri"/>
                <a:ea typeface="Calibri"/>
                <a:cs typeface="Calibri"/>
                <a:sym typeface="Calibri"/>
              </a:rPr>
              <a:t>Тиме постоји тачно један извор истине о томе која је реч приказана, при којој брзини и колико је времена протекло. За систем у коме се стање мења неколико пута у секунди то диригује његову исправност. Расподељено стање значи да приказана реч и забележени индекс дивергирају, а тиме и нетачну телеметрију.</a:t>
            </a:r>
            <a:endParaRPr sz="1100">
              <a:solidFill>
                <a:schemeClr val="dk1"/>
              </a:solidFill>
              <a:latin typeface="Calibri"/>
              <a:ea typeface="Calibri"/>
              <a:cs typeface="Calibri"/>
              <a:sym typeface="Calibri"/>
            </a:endParaRPr>
          </a:p>
          <a:p>
            <a:pPr marL="457200" marR="0" lvl="0" indent="-298450" algn="l" rtl="0">
              <a:lnSpc>
                <a:spcPct val="100000"/>
              </a:lnSpc>
              <a:spcBef>
                <a:spcPts val="0"/>
              </a:spcBef>
              <a:spcAft>
                <a:spcPts val="0"/>
              </a:spcAft>
              <a:buClr>
                <a:srgbClr val="3A342D"/>
              </a:buClr>
              <a:buSzPts val="1100"/>
              <a:buFont typeface="Calibri"/>
              <a:buChar char="●"/>
            </a:pPr>
            <a:r>
              <a:rPr lang="en-US" sz="1100">
                <a:solidFill>
                  <a:srgbClr val="3A342D"/>
                </a:solidFill>
                <a:latin typeface="Calibri"/>
                <a:ea typeface="Calibri"/>
                <a:cs typeface="Calibri"/>
                <a:sym typeface="Calibri"/>
              </a:rPr>
              <a:t>Слој логике не садржи ниједну референцу на </a:t>
            </a:r>
            <a:r>
              <a:rPr lang="en-US" sz="1100" i="1">
                <a:solidFill>
                  <a:srgbClr val="3A342D"/>
                </a:solidFill>
                <a:latin typeface="Calibri"/>
                <a:ea typeface="Calibri"/>
                <a:cs typeface="Calibri"/>
                <a:sym typeface="Calibri"/>
              </a:rPr>
              <a:t>Compose</a:t>
            </a:r>
            <a:r>
              <a:rPr lang="en-US" sz="1100">
                <a:solidFill>
                  <a:srgbClr val="3A342D"/>
                </a:solidFill>
                <a:latin typeface="Calibri"/>
                <a:ea typeface="Calibri"/>
                <a:cs typeface="Calibri"/>
                <a:sym typeface="Calibri"/>
              </a:rPr>
              <a:t>. Разлог превазилази тестабилност: </a:t>
            </a:r>
            <a:r>
              <a:rPr lang="en-US" sz="1100" i="1">
                <a:solidFill>
                  <a:srgbClr val="3A342D"/>
                </a:solidFill>
                <a:latin typeface="Calibri"/>
                <a:ea typeface="Calibri"/>
                <a:cs typeface="Calibri"/>
                <a:sym typeface="Calibri"/>
              </a:rPr>
              <a:t>ViewModel </a:t>
            </a:r>
            <a:r>
              <a:rPr lang="en-US" sz="1100">
                <a:solidFill>
                  <a:srgbClr val="3A342D"/>
                </a:solidFill>
                <a:latin typeface="Calibri"/>
                <a:ea typeface="Calibri"/>
                <a:cs typeface="Calibri"/>
                <a:sym typeface="Calibri"/>
              </a:rPr>
              <a:t>преживљава промену конфигурације, а </a:t>
            </a:r>
            <a:r>
              <a:rPr lang="en-US" sz="1100" i="1">
                <a:solidFill>
                  <a:srgbClr val="3A342D"/>
                </a:solidFill>
                <a:latin typeface="Calibri"/>
                <a:ea typeface="Calibri"/>
                <a:cs typeface="Calibri"/>
                <a:sym typeface="Calibri"/>
              </a:rPr>
              <a:t>Composable </a:t>
            </a:r>
            <a:r>
              <a:rPr lang="en-US" sz="1100">
                <a:solidFill>
                  <a:srgbClr val="3A342D"/>
                </a:solidFill>
                <a:latin typeface="Calibri"/>
                <a:ea typeface="Calibri"/>
                <a:cs typeface="Calibri"/>
                <a:sym typeface="Calibri"/>
              </a:rPr>
              <a:t>функције не. Да бројач живи у слоју приказа, ротација екрана усред читања ресетовала би мерење.</a:t>
            </a:r>
            <a:endParaRPr sz="1100">
              <a:solidFill>
                <a:schemeClr val="dk1"/>
              </a:solidFill>
              <a:latin typeface="Calibri"/>
              <a:ea typeface="Calibri"/>
              <a:cs typeface="Calibri"/>
              <a:sym typeface="Calibri"/>
            </a:endParaRPr>
          </a:p>
          <a:p>
            <a:pPr marL="457200" marR="0" lvl="0" indent="-298450" algn="l" rtl="0">
              <a:spcBef>
                <a:spcPts val="0"/>
              </a:spcBef>
              <a:spcAft>
                <a:spcPts val="0"/>
              </a:spcAft>
              <a:buClr>
                <a:srgbClr val="3A342D"/>
              </a:buClr>
              <a:buSzPts val="1100"/>
              <a:buFont typeface="Calibri"/>
              <a:buChar char="●"/>
            </a:pPr>
            <a:r>
              <a:rPr lang="en-US" sz="1100">
                <a:solidFill>
                  <a:srgbClr val="3A342D"/>
                </a:solidFill>
                <a:latin typeface="Calibri"/>
                <a:ea typeface="Calibri"/>
                <a:cs typeface="Calibri"/>
                <a:sym typeface="Calibri"/>
              </a:rPr>
              <a:t>Приступ подацима иде кроз једну тачку - </a:t>
            </a:r>
            <a:r>
              <a:rPr lang="en-US" sz="1100" i="1">
                <a:solidFill>
                  <a:srgbClr val="3A342D"/>
                </a:solidFill>
                <a:latin typeface="Calibri"/>
                <a:ea typeface="Calibri"/>
                <a:cs typeface="Calibri"/>
                <a:sym typeface="Calibri"/>
              </a:rPr>
              <a:t>AppContainer </a:t>
            </a:r>
            <a:r>
              <a:rPr lang="en-US" sz="1100">
                <a:solidFill>
                  <a:srgbClr val="3A342D"/>
                </a:solidFill>
                <a:latin typeface="Calibri"/>
                <a:ea typeface="Calibri"/>
                <a:cs typeface="Calibri"/>
                <a:sym typeface="Calibri"/>
              </a:rPr>
              <a:t>држи једину инстанцу базе.</a:t>
            </a:r>
            <a:endParaRPr sz="11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Shape 59"/>
        <p:cNvGrpSpPr/>
        <p:nvPr/>
      </p:nvGrpSpPr>
      <p:grpSpPr>
        <a:xfrm>
          <a:off x="0" y="0"/>
          <a:ext cx="0" cy="0"/>
          <a:chOff x="0" y="0"/>
          <a:chExt cx="0" cy="0"/>
        </a:xfrm>
      </p:grpSpPr>
      <p:sp>
        <p:nvSpPr>
          <p:cNvPr id="60" name="Google Shape;60;p6"/>
          <p:cNvSpPr txBox="1"/>
          <p:nvPr/>
        </p:nvSpPr>
        <p:spPr>
          <a:xfrm>
            <a:off x="502920" y="274320"/>
            <a:ext cx="81381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УПРАВЉАЊЕ ВРЕМЕНОМ</a:t>
            </a:r>
            <a:endParaRPr sz="1000">
              <a:solidFill>
                <a:schemeClr val="dk1"/>
              </a:solidFill>
              <a:latin typeface="Calibri"/>
              <a:ea typeface="Calibri"/>
              <a:cs typeface="Calibri"/>
              <a:sym typeface="Calibri"/>
            </a:endParaRPr>
          </a:p>
        </p:txBody>
      </p:sp>
      <p:sp>
        <p:nvSpPr>
          <p:cNvPr id="61" name="Google Shape;61;p6"/>
          <p:cNvSpPr txBox="1"/>
          <p:nvPr/>
        </p:nvSpPr>
        <p:spPr>
          <a:xfrm>
            <a:off x="502920" y="512064"/>
            <a:ext cx="8138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2600"/>
              <a:buFont typeface="Cambria"/>
              <a:buNone/>
            </a:pPr>
            <a:r>
              <a:rPr lang="en-US" sz="2600" b="1">
                <a:solidFill>
                  <a:srgbClr val="1B1815"/>
                </a:solidFill>
                <a:latin typeface="Cambria"/>
                <a:ea typeface="Cambria"/>
                <a:cs typeface="Cambria"/>
                <a:sym typeface="Cambria"/>
              </a:rPr>
              <a:t>Акумулација временске грешке</a:t>
            </a:r>
            <a:endParaRPr sz="2600">
              <a:solidFill>
                <a:schemeClr val="dk1"/>
              </a:solidFill>
              <a:latin typeface="Calibri"/>
              <a:ea typeface="Calibri"/>
              <a:cs typeface="Calibri"/>
              <a:sym typeface="Calibri"/>
            </a:endParaRPr>
          </a:p>
        </p:txBody>
      </p:sp>
      <p:sp>
        <p:nvSpPr>
          <p:cNvPr id="62" name="Google Shape;62;p6"/>
          <p:cNvSpPr txBox="1"/>
          <p:nvPr/>
        </p:nvSpPr>
        <p:spPr>
          <a:xfrm>
            <a:off x="8275320" y="4754880"/>
            <a:ext cx="4572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8176"/>
              </a:buClr>
              <a:buSzPts val="900"/>
              <a:buFont typeface="Calibri"/>
              <a:buNone/>
            </a:pPr>
            <a:r>
              <a:rPr lang="en-US" sz="900">
                <a:solidFill>
                  <a:srgbClr val="8A8176"/>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
        <p:nvSpPr>
          <p:cNvPr id="63" name="Google Shape;63;p6"/>
          <p:cNvSpPr txBox="1"/>
          <p:nvPr/>
        </p:nvSpPr>
        <p:spPr>
          <a:xfrm>
            <a:off x="502920" y="1115568"/>
            <a:ext cx="39319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2F2A"/>
              </a:buClr>
              <a:buSzPts val="1000"/>
              <a:buFont typeface="Calibri"/>
              <a:buNone/>
            </a:pPr>
            <a:r>
              <a:rPr lang="en-US" sz="1000" b="1">
                <a:solidFill>
                  <a:srgbClr val="8C2F2A"/>
                </a:solidFill>
                <a:latin typeface="Calibri"/>
                <a:ea typeface="Calibri"/>
                <a:cs typeface="Calibri"/>
                <a:sym typeface="Calibri"/>
              </a:rPr>
              <a:t>НАИВНА ПЕТЉА</a:t>
            </a:r>
            <a:endParaRPr sz="1000">
              <a:solidFill>
                <a:schemeClr val="dk1"/>
              </a:solidFill>
              <a:latin typeface="Calibri"/>
              <a:ea typeface="Calibri"/>
              <a:cs typeface="Calibri"/>
              <a:sym typeface="Calibri"/>
            </a:endParaRPr>
          </a:p>
        </p:txBody>
      </p:sp>
      <p:sp>
        <p:nvSpPr>
          <p:cNvPr id="64" name="Google Shape;64;p6"/>
          <p:cNvSpPr/>
          <p:nvPr/>
        </p:nvSpPr>
        <p:spPr>
          <a:xfrm>
            <a:off x="502920" y="1371600"/>
            <a:ext cx="3931920" cy="1170432"/>
          </a:xfrm>
          <a:prstGeom prst="roundRect">
            <a:avLst>
              <a:gd name="adj" fmla="val 3906"/>
            </a:avLst>
          </a:prstGeom>
          <a:solidFill>
            <a:srgbClr val="1F1C18"/>
          </a:solidFill>
          <a:ln w="12700" cap="flat" cmpd="sng">
            <a:solidFill>
              <a:srgbClr val="1F1C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
          <p:cNvSpPr txBox="1"/>
          <p:nvPr/>
        </p:nvSpPr>
        <p:spPr>
          <a:xfrm>
            <a:off x="630936" y="1463040"/>
            <a:ext cx="3675888" cy="987552"/>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EDE6D8"/>
              </a:buClr>
              <a:buSzPts val="1100"/>
              <a:buFont typeface="Courier New"/>
              <a:buNone/>
            </a:pPr>
            <a:r>
              <a:rPr lang="en-US" sz="1100">
                <a:solidFill>
                  <a:srgbClr val="EDE6D8"/>
                </a:solidFill>
                <a:latin typeface="Courier New"/>
                <a:ea typeface="Courier New"/>
                <a:cs typeface="Courier New"/>
                <a:sym typeface="Courier New"/>
              </a:rPr>
              <a:t>for (реч in текст) {</a:t>
            </a:r>
            <a:endParaRPr sz="11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1100"/>
              <a:buFont typeface="Courier New"/>
              <a:buNone/>
            </a:pPr>
            <a:r>
              <a:rPr lang="en-US" sz="1100">
                <a:solidFill>
                  <a:srgbClr val="EDE6D8"/>
                </a:solidFill>
                <a:latin typeface="Courier New"/>
                <a:ea typeface="Courier New"/>
                <a:cs typeface="Courier New"/>
                <a:sym typeface="Courier New"/>
              </a:rPr>
              <a:t>    чекај(трајање(реч))</a:t>
            </a:r>
            <a:endParaRPr sz="11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1100"/>
              <a:buFont typeface="Courier New"/>
              <a:buNone/>
            </a:pPr>
            <a:r>
              <a:rPr lang="en-US" sz="1100">
                <a:solidFill>
                  <a:srgbClr val="EDE6D8"/>
                </a:solidFill>
                <a:latin typeface="Courier New"/>
                <a:ea typeface="Courier New"/>
                <a:cs typeface="Courier New"/>
                <a:sym typeface="Courier New"/>
              </a:rPr>
              <a:t>    приказ = реч</a:t>
            </a:r>
            <a:endParaRPr sz="11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1100"/>
              <a:buFont typeface="Courier New"/>
              <a:buNone/>
            </a:pPr>
            <a:r>
              <a:rPr lang="en-US" sz="1100">
                <a:solidFill>
                  <a:srgbClr val="EDE6D8"/>
                </a:solidFill>
                <a:latin typeface="Courier New"/>
                <a:ea typeface="Courier New"/>
                <a:cs typeface="Courier New"/>
                <a:sym typeface="Courier New"/>
              </a:rPr>
              <a:t>}</a:t>
            </a:r>
            <a:endParaRPr sz="1100">
              <a:solidFill>
                <a:schemeClr val="dk1"/>
              </a:solidFill>
              <a:latin typeface="Calibri"/>
              <a:ea typeface="Calibri"/>
              <a:cs typeface="Calibri"/>
              <a:sym typeface="Calibri"/>
            </a:endParaRPr>
          </a:p>
        </p:txBody>
      </p:sp>
      <p:sp>
        <p:nvSpPr>
          <p:cNvPr id="66" name="Google Shape;66;p6"/>
          <p:cNvSpPr txBox="1"/>
          <p:nvPr/>
        </p:nvSpPr>
        <p:spPr>
          <a:xfrm>
            <a:off x="502920" y="2651760"/>
            <a:ext cx="3931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42D"/>
              </a:buClr>
              <a:buSzPts val="1100"/>
              <a:buFont typeface="Calibri"/>
              <a:buNone/>
            </a:pPr>
            <a:r>
              <a:rPr lang="en-US" sz="1100">
                <a:solidFill>
                  <a:srgbClr val="3A342D"/>
                </a:solidFill>
                <a:latin typeface="Calibri"/>
                <a:ea typeface="Calibri"/>
                <a:cs typeface="Calibri"/>
                <a:sym typeface="Calibri"/>
              </a:rPr>
              <a:t>Чекање траје најмање задато време, по правилу нешто више. Вишак се преноси на све наредне речи.</a:t>
            </a:r>
            <a:endParaRPr sz="1100">
              <a:solidFill>
                <a:schemeClr val="dk1"/>
              </a:solidFill>
              <a:latin typeface="Calibri"/>
              <a:ea typeface="Calibri"/>
              <a:cs typeface="Calibri"/>
              <a:sym typeface="Calibri"/>
            </a:endParaRPr>
          </a:p>
        </p:txBody>
      </p:sp>
      <p:sp>
        <p:nvSpPr>
          <p:cNvPr id="67" name="Google Shape;67;p6"/>
          <p:cNvSpPr txBox="1"/>
          <p:nvPr/>
        </p:nvSpPr>
        <p:spPr>
          <a:xfrm>
            <a:off x="4709160" y="1115568"/>
            <a:ext cx="39319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ПРИМЕЊЕНО РЕШЕЊЕ</a:t>
            </a:r>
            <a:endParaRPr sz="1000">
              <a:solidFill>
                <a:schemeClr val="dk1"/>
              </a:solidFill>
              <a:latin typeface="Calibri"/>
              <a:ea typeface="Calibri"/>
              <a:cs typeface="Calibri"/>
              <a:sym typeface="Calibri"/>
            </a:endParaRPr>
          </a:p>
        </p:txBody>
      </p:sp>
      <p:sp>
        <p:nvSpPr>
          <p:cNvPr id="68" name="Google Shape;68;p6"/>
          <p:cNvSpPr/>
          <p:nvPr/>
        </p:nvSpPr>
        <p:spPr>
          <a:xfrm>
            <a:off x="4709160" y="1371600"/>
            <a:ext cx="3931920" cy="1170432"/>
          </a:xfrm>
          <a:prstGeom prst="roundRect">
            <a:avLst>
              <a:gd name="adj" fmla="val 3906"/>
            </a:avLst>
          </a:prstGeom>
          <a:solidFill>
            <a:srgbClr val="1F1C18"/>
          </a:solidFill>
          <a:ln w="12700" cap="flat" cmpd="sng">
            <a:solidFill>
              <a:srgbClr val="1F1C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6"/>
          <p:cNvSpPr txBox="1"/>
          <p:nvPr/>
        </p:nvSpPr>
        <p:spPr>
          <a:xfrm>
            <a:off x="4837176" y="1463040"/>
            <a:ext cx="3675888" cy="987552"/>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EDE6D8"/>
              </a:buClr>
              <a:buSzPts val="1100"/>
              <a:buFont typeface="Courier New"/>
              <a:buNone/>
            </a:pPr>
            <a:r>
              <a:rPr lang="en-US" sz="1100">
                <a:solidFill>
                  <a:srgbClr val="EDE6D8"/>
                </a:solidFill>
                <a:latin typeface="Courier New"/>
                <a:ea typeface="Courier New"/>
                <a:cs typeface="Courier New"/>
                <a:sym typeface="Courier New"/>
              </a:rPr>
              <a:t>var следећа = сада</a:t>
            </a:r>
            <a:endParaRPr sz="11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1100"/>
              <a:buFont typeface="Courier New"/>
              <a:buNone/>
            </a:pPr>
            <a:r>
              <a:rPr lang="en-US" sz="1100">
                <a:solidFill>
                  <a:srgbClr val="EDE6D8"/>
                </a:solidFill>
                <a:latin typeface="Courier New"/>
                <a:ea typeface="Courier New"/>
                <a:cs typeface="Courier New"/>
                <a:sym typeface="Courier New"/>
              </a:rPr>
              <a:t>for (реч in текст) {</a:t>
            </a:r>
            <a:endParaRPr sz="11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1100"/>
              <a:buFont typeface="Courier New"/>
              <a:buNone/>
            </a:pPr>
            <a:r>
              <a:rPr lang="en-US" sz="1100">
                <a:solidFill>
                  <a:srgbClr val="EDE6D8"/>
                </a:solidFill>
                <a:latin typeface="Courier New"/>
                <a:ea typeface="Courier New"/>
                <a:cs typeface="Courier New"/>
                <a:sym typeface="Courier New"/>
              </a:rPr>
              <a:t>    следећа += трајање(реч)</a:t>
            </a:r>
            <a:endParaRPr sz="11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1100"/>
              <a:buFont typeface="Courier New"/>
              <a:buNone/>
            </a:pPr>
            <a:r>
              <a:rPr lang="en-US" sz="1100">
                <a:solidFill>
                  <a:srgbClr val="EDE6D8"/>
                </a:solidFill>
                <a:latin typeface="Courier New"/>
                <a:ea typeface="Courier New"/>
                <a:cs typeface="Courier New"/>
                <a:sym typeface="Courier New"/>
              </a:rPr>
              <a:t>    чекај(следећа − сада)</a:t>
            </a:r>
            <a:endParaRPr sz="11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1100"/>
              <a:buFont typeface="Courier New"/>
              <a:buNone/>
            </a:pPr>
            <a:r>
              <a:rPr lang="en-US" sz="1100">
                <a:solidFill>
                  <a:srgbClr val="EDE6D8"/>
                </a:solidFill>
                <a:latin typeface="Courier New"/>
                <a:ea typeface="Courier New"/>
                <a:cs typeface="Courier New"/>
                <a:sym typeface="Courier New"/>
              </a:rPr>
              <a:t>    приказ = реч</a:t>
            </a:r>
            <a:endParaRPr sz="11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1100"/>
              <a:buFont typeface="Courier New"/>
              <a:buNone/>
            </a:pPr>
            <a:r>
              <a:rPr lang="en-US" sz="1100">
                <a:solidFill>
                  <a:srgbClr val="EDE6D8"/>
                </a:solidFill>
                <a:latin typeface="Courier New"/>
                <a:ea typeface="Courier New"/>
                <a:cs typeface="Courier New"/>
                <a:sym typeface="Courier New"/>
              </a:rPr>
              <a:t>}</a:t>
            </a:r>
            <a:endParaRPr sz="1100">
              <a:solidFill>
                <a:schemeClr val="dk1"/>
              </a:solidFill>
              <a:latin typeface="Calibri"/>
              <a:ea typeface="Calibri"/>
              <a:cs typeface="Calibri"/>
              <a:sym typeface="Calibri"/>
            </a:endParaRPr>
          </a:p>
        </p:txBody>
      </p:sp>
      <p:sp>
        <p:nvSpPr>
          <p:cNvPr id="70" name="Google Shape;70;p6"/>
          <p:cNvSpPr txBox="1"/>
          <p:nvPr/>
        </p:nvSpPr>
        <p:spPr>
          <a:xfrm>
            <a:off x="4709160" y="2651760"/>
            <a:ext cx="3931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42D"/>
              </a:buClr>
              <a:buSzPts val="1100"/>
              <a:buFont typeface="Calibri"/>
              <a:buNone/>
            </a:pPr>
            <a:r>
              <a:rPr lang="en-US" sz="1100">
                <a:solidFill>
                  <a:srgbClr val="3A342D"/>
                </a:solidFill>
                <a:latin typeface="Calibri"/>
                <a:ea typeface="Calibri"/>
                <a:cs typeface="Calibri"/>
                <a:sym typeface="Calibri"/>
              </a:rPr>
              <a:t>Тренуци смене се сабирају унапред, па кашњење једне итерације не помера наредне. Апсолутни тренуци уместо низа релативних кашњења.</a:t>
            </a:r>
            <a:endParaRPr sz="1100">
              <a:solidFill>
                <a:schemeClr val="dk1"/>
              </a:solidFill>
              <a:latin typeface="Calibri"/>
              <a:ea typeface="Calibri"/>
              <a:cs typeface="Calibri"/>
              <a:sym typeface="Calibri"/>
            </a:endParaRPr>
          </a:p>
        </p:txBody>
      </p:sp>
      <p:sp>
        <p:nvSpPr>
          <p:cNvPr id="71" name="Google Shape;71;p6"/>
          <p:cNvSpPr/>
          <p:nvPr/>
        </p:nvSpPr>
        <p:spPr>
          <a:xfrm>
            <a:off x="502920" y="3310128"/>
            <a:ext cx="8138160" cy="1188720"/>
          </a:xfrm>
          <a:prstGeom prst="roundRect">
            <a:avLst>
              <a:gd name="adj" fmla="val 4615"/>
            </a:avLst>
          </a:prstGeom>
          <a:solidFill>
            <a:srgbClr val="E9DCC5"/>
          </a:solidFill>
          <a:ln w="12700" cap="flat" cmpd="sng">
            <a:solidFill>
              <a:srgbClr val="E9DC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txBox="1"/>
          <p:nvPr/>
        </p:nvSpPr>
        <p:spPr>
          <a:xfrm>
            <a:off x="777240" y="3511296"/>
            <a:ext cx="118872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2F2A"/>
              </a:buClr>
              <a:buSzPts val="3000"/>
              <a:buFont typeface="Cambria"/>
              <a:buNone/>
            </a:pPr>
            <a:r>
              <a:rPr lang="en-US" sz="3000" b="1">
                <a:solidFill>
                  <a:srgbClr val="8C2F2A"/>
                </a:solidFill>
                <a:latin typeface="Cambria"/>
                <a:ea typeface="Cambria"/>
                <a:cs typeface="Cambria"/>
                <a:sym typeface="Cambria"/>
              </a:rPr>
              <a:t>2 %</a:t>
            </a:r>
            <a:endParaRPr sz="3000">
              <a:solidFill>
                <a:schemeClr val="dk1"/>
              </a:solidFill>
              <a:latin typeface="Calibri"/>
              <a:ea typeface="Calibri"/>
              <a:cs typeface="Calibri"/>
              <a:sym typeface="Calibri"/>
            </a:endParaRPr>
          </a:p>
        </p:txBody>
      </p:sp>
      <p:sp>
        <p:nvSpPr>
          <p:cNvPr id="73" name="Google Shape;73;p6"/>
          <p:cNvSpPr txBox="1"/>
          <p:nvPr/>
        </p:nvSpPr>
        <p:spPr>
          <a:xfrm>
            <a:off x="777240" y="4023360"/>
            <a:ext cx="1371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42D"/>
              </a:buClr>
              <a:buSzPts val="950"/>
              <a:buFont typeface="Calibri"/>
              <a:buNone/>
            </a:pPr>
            <a:r>
              <a:rPr lang="en-US" sz="950">
                <a:solidFill>
                  <a:srgbClr val="3A342D"/>
                </a:solidFill>
                <a:latin typeface="Calibri"/>
                <a:ea typeface="Calibri"/>
                <a:cs typeface="Calibri"/>
                <a:sym typeface="Calibri"/>
              </a:rPr>
              <a:t>грешке у измереној ефективној брзини</a:t>
            </a:r>
            <a:endParaRPr sz="950">
              <a:solidFill>
                <a:schemeClr val="dk1"/>
              </a:solidFill>
              <a:latin typeface="Calibri"/>
              <a:ea typeface="Calibri"/>
              <a:cs typeface="Calibri"/>
              <a:sym typeface="Calibri"/>
            </a:endParaRPr>
          </a:p>
        </p:txBody>
      </p:sp>
      <p:sp>
        <p:nvSpPr>
          <p:cNvPr id="74" name="Google Shape;74;p6"/>
          <p:cNvSpPr txBox="1"/>
          <p:nvPr/>
        </p:nvSpPr>
        <p:spPr>
          <a:xfrm>
            <a:off x="2286000" y="3566160"/>
            <a:ext cx="612648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B1815"/>
              </a:buClr>
              <a:buSzPts val="1150"/>
              <a:buFont typeface="Calibri"/>
              <a:buNone/>
            </a:pPr>
            <a:r>
              <a:rPr lang="en-US" sz="1150">
                <a:solidFill>
                  <a:srgbClr val="1B1815"/>
                </a:solidFill>
                <a:latin typeface="Calibri"/>
                <a:ea typeface="Calibri"/>
                <a:cs typeface="Calibri"/>
                <a:sym typeface="Calibri"/>
              </a:rPr>
              <a:t>При 400 речи у минути и просечном вишку од само три милисекунде по речи, текст од хиљаду речи траје двадесетак секунди дуже него што би требало. Пошто је ефективна брзина главна мерена величина, таква грешка би се помешала са ефектом који се мери - не са удобношћу корисника.</a:t>
            </a:r>
            <a:endParaRPr sz="11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Shape 79"/>
        <p:cNvGrpSpPr/>
        <p:nvPr/>
      </p:nvGrpSpPr>
      <p:grpSpPr>
        <a:xfrm>
          <a:off x="0" y="0"/>
          <a:ext cx="0" cy="0"/>
          <a:chOff x="0" y="0"/>
          <a:chExt cx="0" cy="0"/>
        </a:xfrm>
      </p:grpSpPr>
      <p:sp>
        <p:nvSpPr>
          <p:cNvPr id="80" name="Google Shape;80;p7"/>
          <p:cNvSpPr txBox="1"/>
          <p:nvPr/>
        </p:nvSpPr>
        <p:spPr>
          <a:xfrm>
            <a:off x="502920" y="274320"/>
            <a:ext cx="81381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АЛГОРИТАМ</a:t>
            </a:r>
            <a:endParaRPr sz="1000">
              <a:solidFill>
                <a:schemeClr val="dk1"/>
              </a:solidFill>
              <a:latin typeface="Calibri"/>
              <a:ea typeface="Calibri"/>
              <a:cs typeface="Calibri"/>
              <a:sym typeface="Calibri"/>
            </a:endParaRPr>
          </a:p>
        </p:txBody>
      </p:sp>
      <p:sp>
        <p:nvSpPr>
          <p:cNvPr id="81" name="Google Shape;81;p7"/>
          <p:cNvSpPr txBox="1"/>
          <p:nvPr/>
        </p:nvSpPr>
        <p:spPr>
          <a:xfrm>
            <a:off x="502920" y="512064"/>
            <a:ext cx="8138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2600"/>
              <a:buFont typeface="Cambria"/>
              <a:buNone/>
            </a:pPr>
            <a:r>
              <a:rPr lang="en-US" sz="2600" b="1">
                <a:solidFill>
                  <a:srgbClr val="1B1815"/>
                </a:solidFill>
                <a:latin typeface="Cambria"/>
                <a:ea typeface="Cambria"/>
                <a:cs typeface="Cambria"/>
                <a:sym typeface="Cambria"/>
              </a:rPr>
              <a:t>Прилагодљив темпо и коефицијент α</a:t>
            </a:r>
            <a:endParaRPr sz="2600">
              <a:solidFill>
                <a:schemeClr val="dk1"/>
              </a:solidFill>
              <a:latin typeface="Calibri"/>
              <a:ea typeface="Calibri"/>
              <a:cs typeface="Calibri"/>
              <a:sym typeface="Calibri"/>
            </a:endParaRPr>
          </a:p>
        </p:txBody>
      </p:sp>
      <p:sp>
        <p:nvSpPr>
          <p:cNvPr id="82" name="Google Shape;82;p7"/>
          <p:cNvSpPr txBox="1"/>
          <p:nvPr/>
        </p:nvSpPr>
        <p:spPr>
          <a:xfrm>
            <a:off x="8275320" y="4754880"/>
            <a:ext cx="4572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8176"/>
              </a:buClr>
              <a:buSzPts val="900"/>
              <a:buFont typeface="Calibri"/>
              <a:buNone/>
            </a:pPr>
            <a:r>
              <a:rPr lang="en-US" sz="900">
                <a:solidFill>
                  <a:srgbClr val="8A8176"/>
                </a:solidFill>
                <a:latin typeface="Calibri"/>
                <a:ea typeface="Calibri"/>
                <a:cs typeface="Calibri"/>
                <a:sym typeface="Calibri"/>
              </a:rPr>
              <a:t>5</a:t>
            </a:r>
            <a:endParaRPr sz="900">
              <a:solidFill>
                <a:schemeClr val="dk1"/>
              </a:solidFill>
              <a:latin typeface="Calibri"/>
              <a:ea typeface="Calibri"/>
              <a:cs typeface="Calibri"/>
              <a:sym typeface="Calibri"/>
            </a:endParaRPr>
          </a:p>
        </p:txBody>
      </p:sp>
      <p:sp>
        <p:nvSpPr>
          <p:cNvPr id="83" name="Google Shape;83;p7"/>
          <p:cNvSpPr/>
          <p:nvPr/>
        </p:nvSpPr>
        <p:spPr>
          <a:xfrm>
            <a:off x="502920" y="1097280"/>
            <a:ext cx="4572000" cy="2057400"/>
          </a:xfrm>
          <a:prstGeom prst="roundRect">
            <a:avLst>
              <a:gd name="adj" fmla="val 2667"/>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7"/>
          <p:cNvSpPr txBox="1"/>
          <p:nvPr/>
        </p:nvSpPr>
        <p:spPr>
          <a:xfrm>
            <a:off x="731520" y="1243584"/>
            <a:ext cx="416052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Множилац по дужини речи</a:t>
            </a:r>
            <a:endParaRPr sz="1000">
              <a:solidFill>
                <a:schemeClr val="dk1"/>
              </a:solidFill>
              <a:latin typeface="Calibri"/>
              <a:ea typeface="Calibri"/>
              <a:cs typeface="Calibri"/>
              <a:sym typeface="Calibri"/>
            </a:endParaRPr>
          </a:p>
        </p:txBody>
      </p:sp>
      <p:sp>
        <p:nvSpPr>
          <p:cNvPr id="85" name="Google Shape;85;p7"/>
          <p:cNvSpPr txBox="1"/>
          <p:nvPr/>
        </p:nvSpPr>
        <p:spPr>
          <a:xfrm>
            <a:off x="731520" y="1426464"/>
            <a:ext cx="41605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1000"/>
              <a:buFont typeface="Courier New"/>
              <a:buNone/>
            </a:pPr>
            <a:r>
              <a:rPr lang="en-US" sz="1000">
                <a:solidFill>
                  <a:srgbClr val="1B1815"/>
                </a:solidFill>
                <a:latin typeface="Courier New"/>
                <a:ea typeface="Courier New"/>
                <a:cs typeface="Courier New"/>
                <a:sym typeface="Courier New"/>
              </a:rPr>
              <a:t>f(w) = clamp(1 + 0,5·(l−l_ref)/l_ref, 0,60, 1,80)</a:t>
            </a:r>
            <a:endParaRPr sz="1000">
              <a:solidFill>
                <a:schemeClr val="dk1"/>
              </a:solidFill>
              <a:latin typeface="Calibri"/>
              <a:ea typeface="Calibri"/>
              <a:cs typeface="Calibri"/>
              <a:sym typeface="Calibri"/>
            </a:endParaRPr>
          </a:p>
        </p:txBody>
      </p:sp>
      <p:sp>
        <p:nvSpPr>
          <p:cNvPr id="86" name="Google Shape;86;p7"/>
          <p:cNvSpPr txBox="1"/>
          <p:nvPr/>
        </p:nvSpPr>
        <p:spPr>
          <a:xfrm>
            <a:off x="731520" y="1737360"/>
            <a:ext cx="416052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Бонус за паузу — сабира се, не множи</a:t>
            </a:r>
            <a:endParaRPr sz="1000">
              <a:solidFill>
                <a:schemeClr val="dk1"/>
              </a:solidFill>
              <a:latin typeface="Calibri"/>
              <a:ea typeface="Calibri"/>
              <a:cs typeface="Calibri"/>
              <a:sym typeface="Calibri"/>
            </a:endParaRPr>
          </a:p>
        </p:txBody>
      </p:sp>
      <p:sp>
        <p:nvSpPr>
          <p:cNvPr id="87" name="Google Shape;87;p7"/>
          <p:cNvSpPr txBox="1"/>
          <p:nvPr/>
        </p:nvSpPr>
        <p:spPr>
          <a:xfrm>
            <a:off x="731520" y="1920240"/>
            <a:ext cx="41605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1000"/>
              <a:buFont typeface="Courier New"/>
              <a:buNone/>
            </a:pPr>
            <a:r>
              <a:rPr lang="en-US" sz="1000">
                <a:solidFill>
                  <a:srgbClr val="1B1815"/>
                </a:solidFill>
                <a:latin typeface="Courier New"/>
                <a:ea typeface="Courier New"/>
                <a:cs typeface="Courier New"/>
                <a:sym typeface="Courier New"/>
              </a:rPr>
              <a:t>p(w) = 1,80 пасус | 0,90 .!?… | 0,45 ,;: | 0 иначе</a:t>
            </a:r>
            <a:endParaRPr sz="1000">
              <a:solidFill>
                <a:schemeClr val="dk1"/>
              </a:solidFill>
              <a:latin typeface="Calibri"/>
              <a:ea typeface="Calibri"/>
              <a:cs typeface="Calibri"/>
              <a:sym typeface="Calibri"/>
            </a:endParaRPr>
          </a:p>
        </p:txBody>
      </p:sp>
      <p:sp>
        <p:nvSpPr>
          <p:cNvPr id="88" name="Google Shape;88;p7"/>
          <p:cNvSpPr txBox="1"/>
          <p:nvPr/>
        </p:nvSpPr>
        <p:spPr>
          <a:xfrm>
            <a:off x="731520" y="2231136"/>
            <a:ext cx="416052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Трајање приказа, нормализација и α</a:t>
            </a:r>
            <a:endParaRPr sz="1000">
              <a:solidFill>
                <a:schemeClr val="dk1"/>
              </a:solidFill>
              <a:latin typeface="Calibri"/>
              <a:ea typeface="Calibri"/>
              <a:cs typeface="Calibri"/>
              <a:sym typeface="Calibri"/>
            </a:endParaRPr>
          </a:p>
        </p:txBody>
      </p:sp>
      <p:sp>
        <p:nvSpPr>
          <p:cNvPr id="89" name="Google Shape;89;p7"/>
          <p:cNvSpPr txBox="1"/>
          <p:nvPr/>
        </p:nvSpPr>
        <p:spPr>
          <a:xfrm>
            <a:off x="731520" y="2414016"/>
            <a:ext cx="41605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1000"/>
              <a:buFont typeface="Courier New"/>
              <a:buNone/>
            </a:pPr>
            <a:r>
              <a:rPr lang="en-US" sz="1000">
                <a:solidFill>
                  <a:srgbClr val="1B1815"/>
                </a:solidFill>
                <a:latin typeface="Courier New"/>
                <a:ea typeface="Courier New"/>
                <a:cs typeface="Courier New"/>
                <a:sym typeface="Courier New"/>
              </a:rPr>
              <a:t>d = max(b·w, 55 ms),   b = 60000 / W_nom</a:t>
            </a:r>
            <a:endParaRPr sz="1000">
              <a:solidFill>
                <a:schemeClr val="dk1"/>
              </a:solidFill>
              <a:latin typeface="Calibri"/>
              <a:ea typeface="Calibri"/>
              <a:cs typeface="Calibri"/>
              <a:sym typeface="Calibri"/>
            </a:endParaRPr>
          </a:p>
        </p:txBody>
      </p:sp>
      <p:sp>
        <p:nvSpPr>
          <p:cNvPr id="90" name="Google Shape;90;p7"/>
          <p:cNvSpPr txBox="1"/>
          <p:nvPr/>
        </p:nvSpPr>
        <p:spPr>
          <a:xfrm>
            <a:off x="731520" y="2615184"/>
            <a:ext cx="41605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1000"/>
              <a:buFont typeface="Courier New"/>
              <a:buNone/>
            </a:pPr>
            <a:r>
              <a:rPr lang="en-US" sz="1000">
                <a:solidFill>
                  <a:srgbClr val="1B1815"/>
                </a:solidFill>
                <a:latin typeface="Courier New"/>
                <a:ea typeface="Courier New"/>
                <a:cs typeface="Courier New"/>
                <a:sym typeface="Courier New"/>
              </a:rPr>
              <a:t>нормализовани режим:  d ← d / α</a:t>
            </a:r>
            <a:endParaRPr sz="1000">
              <a:solidFill>
                <a:schemeClr val="dk1"/>
              </a:solidFill>
              <a:latin typeface="Calibri"/>
              <a:ea typeface="Calibri"/>
              <a:cs typeface="Calibri"/>
              <a:sym typeface="Calibri"/>
            </a:endParaRPr>
          </a:p>
        </p:txBody>
      </p:sp>
      <p:sp>
        <p:nvSpPr>
          <p:cNvPr id="91" name="Google Shape;91;p7"/>
          <p:cNvSpPr txBox="1"/>
          <p:nvPr/>
        </p:nvSpPr>
        <p:spPr>
          <a:xfrm>
            <a:off x="731520" y="2816352"/>
            <a:ext cx="41605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1000"/>
              <a:buFont typeface="Courier New"/>
              <a:buNone/>
            </a:pPr>
            <a:r>
              <a:rPr lang="en-US" sz="1000">
                <a:solidFill>
                  <a:srgbClr val="1B1815"/>
                </a:solidFill>
                <a:latin typeface="Courier New"/>
                <a:ea typeface="Courier New"/>
                <a:cs typeface="Courier New"/>
                <a:sym typeface="Courier New"/>
              </a:rPr>
              <a:t>α = (1/N) Σ w_i     →     W_eff = W_nom / α</a:t>
            </a:r>
            <a:endParaRPr sz="1000">
              <a:solidFill>
                <a:schemeClr val="dk1"/>
              </a:solidFill>
              <a:latin typeface="Calibri"/>
              <a:ea typeface="Calibri"/>
              <a:cs typeface="Calibri"/>
              <a:sym typeface="Calibri"/>
            </a:endParaRPr>
          </a:p>
        </p:txBody>
      </p:sp>
      <p:sp>
        <p:nvSpPr>
          <p:cNvPr id="92" name="Google Shape;92;p7"/>
          <p:cNvSpPr/>
          <p:nvPr/>
        </p:nvSpPr>
        <p:spPr>
          <a:xfrm>
            <a:off x="5349240" y="1097280"/>
            <a:ext cx="3291840" cy="2057400"/>
          </a:xfrm>
          <a:prstGeom prst="roundRect">
            <a:avLst>
              <a:gd name="adj" fmla="val 2222"/>
            </a:avLst>
          </a:prstGeom>
          <a:solidFill>
            <a:srgbClr val="1F1C18"/>
          </a:solidFill>
          <a:ln w="12700" cap="flat" cmpd="sng">
            <a:solidFill>
              <a:srgbClr val="1F1C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p:cNvSpPr txBox="1"/>
          <p:nvPr/>
        </p:nvSpPr>
        <p:spPr>
          <a:xfrm>
            <a:off x="5477256" y="1188720"/>
            <a:ext cx="3035808" cy="1874520"/>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fun wordFactor(word: String, lref: Double) =</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(lengthFactor(word, lref) + pauseFactor(word))</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.coerceIn(MIN_UKUPNO, MAX_UKUPNO)</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fun wordDurationMicros(</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word: String, wpm: Int, adaptive: Boolean,</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lref: Double = 5.0, alpha: Double = 0.0</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Long {</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val base = 60_000_000.0 / wpm.coerceAtLeast(1)</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if (!adaptive) return base.toLong()</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.coerceAtLeast(MIN_TRAJANJE_MS * 1000)</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var d = base * wordFactor(word, lref)</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if (alpha &gt; 0.0) d /= alpha</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return d.toLong()</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      .coerceAtLeast(MIN_TRAJANJE_MS * 1000)</a:t>
            </a:r>
            <a:endParaRPr sz="80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800"/>
              <a:buFont typeface="Courier New"/>
              <a:buNone/>
            </a:pPr>
            <a:r>
              <a:rPr lang="en-US" sz="800">
                <a:solidFill>
                  <a:srgbClr val="EDE6D8"/>
                </a:solidFill>
                <a:latin typeface="Courier New"/>
                <a:ea typeface="Courier New"/>
                <a:cs typeface="Courier New"/>
                <a:sym typeface="Courier New"/>
              </a:rPr>
              <a:t>}</a:t>
            </a:r>
            <a:endParaRPr sz="800">
              <a:solidFill>
                <a:schemeClr val="dk1"/>
              </a:solidFill>
              <a:latin typeface="Calibri"/>
              <a:ea typeface="Calibri"/>
              <a:cs typeface="Calibri"/>
              <a:sym typeface="Calibri"/>
            </a:endParaRPr>
          </a:p>
        </p:txBody>
      </p:sp>
      <p:sp>
        <p:nvSpPr>
          <p:cNvPr id="94" name="Google Shape;94;p7"/>
          <p:cNvSpPr/>
          <p:nvPr/>
        </p:nvSpPr>
        <p:spPr>
          <a:xfrm>
            <a:off x="502920" y="3273552"/>
            <a:ext cx="4023360" cy="1280160"/>
          </a:xfrm>
          <a:prstGeom prst="roundRect">
            <a:avLst>
              <a:gd name="adj" fmla="val 4286"/>
            </a:avLst>
          </a:prstGeom>
          <a:solidFill>
            <a:srgbClr val="E9DCC5"/>
          </a:solidFill>
          <a:ln w="12700" cap="flat" cmpd="sng">
            <a:solidFill>
              <a:srgbClr val="E9DC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7"/>
          <p:cNvSpPr txBox="1"/>
          <p:nvPr/>
        </p:nvSpPr>
        <p:spPr>
          <a:xfrm>
            <a:off x="731520" y="3401568"/>
            <a:ext cx="36576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1250"/>
              <a:buFont typeface="Calibri"/>
              <a:buNone/>
            </a:pPr>
            <a:r>
              <a:rPr lang="en-US" sz="1250" b="1">
                <a:solidFill>
                  <a:srgbClr val="1B1815"/>
                </a:solidFill>
                <a:latin typeface="Calibri"/>
                <a:ea typeface="Calibri"/>
                <a:cs typeface="Calibri"/>
                <a:sym typeface="Calibri"/>
              </a:rPr>
              <a:t>l_ref се рачуна из самог текста</a:t>
            </a:r>
            <a:endParaRPr sz="1250">
              <a:solidFill>
                <a:schemeClr val="dk1"/>
              </a:solidFill>
              <a:latin typeface="Calibri"/>
              <a:ea typeface="Calibri"/>
              <a:cs typeface="Calibri"/>
              <a:sym typeface="Calibri"/>
            </a:endParaRPr>
          </a:p>
        </p:txBody>
      </p:sp>
      <p:sp>
        <p:nvSpPr>
          <p:cNvPr id="96" name="Google Shape;96;p7"/>
          <p:cNvSpPr txBox="1"/>
          <p:nvPr/>
        </p:nvSpPr>
        <p:spPr>
          <a:xfrm>
            <a:off x="731520" y="3657600"/>
            <a:ext cx="3611880" cy="822960"/>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3A342D"/>
              </a:buClr>
              <a:buSzPts val="1000"/>
              <a:buFont typeface="Calibri"/>
              <a:buNone/>
            </a:pPr>
            <a:r>
              <a:rPr lang="en-US" sz="1000">
                <a:solidFill>
                  <a:srgbClr val="3A342D"/>
                </a:solidFill>
                <a:latin typeface="Calibri"/>
                <a:ea typeface="Calibri"/>
                <a:cs typeface="Calibri"/>
                <a:sym typeface="Calibri"/>
              </a:rPr>
              <a:t>Референтна дужина је просечна дужина језгра речи баш тог текста, не константа из литературе о неком другом језику. Просечна реч сваког текста, на било ком језику, тако добија множилац тачно 1 - па α зависи од густине интерпункције, не од језика.</a:t>
            </a:r>
            <a:endParaRPr sz="1000">
              <a:solidFill>
                <a:schemeClr val="dk1"/>
              </a:solidFill>
              <a:latin typeface="Calibri"/>
              <a:ea typeface="Calibri"/>
              <a:cs typeface="Calibri"/>
              <a:sym typeface="Calibri"/>
            </a:endParaRPr>
          </a:p>
        </p:txBody>
      </p:sp>
      <p:sp>
        <p:nvSpPr>
          <p:cNvPr id="97" name="Google Shape;97;p7"/>
          <p:cNvSpPr/>
          <p:nvPr/>
        </p:nvSpPr>
        <p:spPr>
          <a:xfrm>
            <a:off x="4800600" y="3273552"/>
            <a:ext cx="3840480" cy="1280160"/>
          </a:xfrm>
          <a:prstGeom prst="roundRect">
            <a:avLst>
              <a:gd name="adj" fmla="val 4286"/>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7"/>
          <p:cNvSpPr txBox="1"/>
          <p:nvPr/>
        </p:nvSpPr>
        <p:spPr>
          <a:xfrm>
            <a:off x="5029200" y="3401568"/>
            <a:ext cx="34747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1250"/>
              <a:buFont typeface="Calibri"/>
              <a:buNone/>
            </a:pPr>
            <a:r>
              <a:rPr lang="en-US" sz="1250" b="1">
                <a:solidFill>
                  <a:srgbClr val="1B1815"/>
                </a:solidFill>
                <a:latin typeface="Calibri"/>
                <a:ea typeface="Calibri"/>
                <a:cs typeface="Calibri"/>
                <a:sym typeface="Calibri"/>
              </a:rPr>
              <a:t>Измерене вредности α</a:t>
            </a:r>
            <a:endParaRPr sz="1250">
              <a:solidFill>
                <a:schemeClr val="dk1"/>
              </a:solidFill>
              <a:latin typeface="Calibri"/>
              <a:ea typeface="Calibri"/>
              <a:cs typeface="Calibri"/>
              <a:sym typeface="Calibri"/>
            </a:endParaRPr>
          </a:p>
        </p:txBody>
      </p:sp>
      <p:sp>
        <p:nvSpPr>
          <p:cNvPr id="99" name="Google Shape;99;p7"/>
          <p:cNvSpPr txBox="1"/>
          <p:nvPr/>
        </p:nvSpPr>
        <p:spPr>
          <a:xfrm>
            <a:off x="5029200" y="3657600"/>
            <a:ext cx="3429000" cy="822960"/>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3A342D"/>
              </a:buClr>
              <a:buSzPts val="1000"/>
              <a:buFont typeface="Calibri"/>
              <a:buNone/>
            </a:pPr>
            <a:r>
              <a:rPr lang="en-US" sz="1000">
                <a:solidFill>
                  <a:srgbClr val="3A342D"/>
                </a:solidFill>
                <a:latin typeface="Calibri"/>
                <a:ea typeface="Calibri"/>
                <a:cs typeface="Calibri"/>
                <a:sym typeface="Calibri"/>
              </a:rPr>
              <a:t>Од 1,036 за Ins_HumanRights до 1,102 за PISA текст „Млеко“. Пондерисано, за самотемпирани услов износи 8,3 % — толико би исти учесници читали спорије да је прилагодљиви режим био укључен.</a:t>
            </a:r>
            <a:endParaRPr sz="1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Shape 104"/>
        <p:cNvGrpSpPr/>
        <p:nvPr/>
      </p:nvGrpSpPr>
      <p:grpSpPr>
        <a:xfrm>
          <a:off x="0" y="0"/>
          <a:ext cx="0" cy="0"/>
          <a:chOff x="0" y="0"/>
          <a:chExt cx="0" cy="0"/>
        </a:xfrm>
      </p:grpSpPr>
      <p:sp>
        <p:nvSpPr>
          <p:cNvPr id="105" name="Google Shape;105;p8"/>
          <p:cNvSpPr txBox="1"/>
          <p:nvPr/>
        </p:nvSpPr>
        <p:spPr>
          <a:xfrm>
            <a:off x="502920" y="274320"/>
            <a:ext cx="81381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КАЛИБРАЦИЈА</a:t>
            </a:r>
            <a:endParaRPr sz="1000">
              <a:solidFill>
                <a:schemeClr val="dk1"/>
              </a:solidFill>
              <a:latin typeface="Calibri"/>
              <a:ea typeface="Calibri"/>
              <a:cs typeface="Calibri"/>
              <a:sym typeface="Calibri"/>
            </a:endParaRPr>
          </a:p>
        </p:txBody>
      </p:sp>
      <p:sp>
        <p:nvSpPr>
          <p:cNvPr id="106" name="Google Shape;106;p8"/>
          <p:cNvSpPr txBox="1"/>
          <p:nvPr/>
        </p:nvSpPr>
        <p:spPr>
          <a:xfrm>
            <a:off x="502920" y="512064"/>
            <a:ext cx="8138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2600"/>
              <a:buFont typeface="Cambria"/>
              <a:buNone/>
            </a:pPr>
            <a:r>
              <a:rPr lang="en-US" sz="2600" b="1">
                <a:solidFill>
                  <a:srgbClr val="1B1815"/>
                </a:solidFill>
                <a:latin typeface="Cambria"/>
                <a:ea typeface="Cambria"/>
                <a:cs typeface="Cambria"/>
                <a:sym typeface="Cambria"/>
              </a:rPr>
              <a:t>Одређивање оптималне брзине читања</a:t>
            </a:r>
            <a:endParaRPr sz="2600">
              <a:solidFill>
                <a:schemeClr val="dk1"/>
              </a:solidFill>
              <a:latin typeface="Calibri"/>
              <a:ea typeface="Calibri"/>
              <a:cs typeface="Calibri"/>
              <a:sym typeface="Calibri"/>
            </a:endParaRPr>
          </a:p>
        </p:txBody>
      </p:sp>
      <p:sp>
        <p:nvSpPr>
          <p:cNvPr id="107" name="Google Shape;107;p8"/>
          <p:cNvSpPr txBox="1"/>
          <p:nvPr/>
        </p:nvSpPr>
        <p:spPr>
          <a:xfrm>
            <a:off x="8275320" y="4754880"/>
            <a:ext cx="4572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8176"/>
              </a:buClr>
              <a:buSzPts val="900"/>
              <a:buFont typeface="Calibri"/>
              <a:buNone/>
            </a:pPr>
            <a:r>
              <a:rPr lang="en-US" sz="900">
                <a:solidFill>
                  <a:srgbClr val="8A8176"/>
                </a:solidFill>
                <a:latin typeface="Calibri"/>
                <a:ea typeface="Calibri"/>
                <a:cs typeface="Calibri"/>
                <a:sym typeface="Calibri"/>
              </a:rPr>
              <a:t>6</a:t>
            </a:r>
            <a:endParaRPr sz="900">
              <a:solidFill>
                <a:schemeClr val="dk1"/>
              </a:solidFill>
              <a:latin typeface="Calibri"/>
              <a:ea typeface="Calibri"/>
              <a:cs typeface="Calibri"/>
              <a:sym typeface="Calibri"/>
            </a:endParaRPr>
          </a:p>
        </p:txBody>
      </p:sp>
      <p:pic>
        <p:nvPicPr>
          <p:cNvPr id="108" name="Google Shape;108;p8" descr="img/seq.png"/>
          <p:cNvPicPr preferRelativeResize="0"/>
          <p:nvPr/>
        </p:nvPicPr>
        <p:blipFill rotWithShape="1">
          <a:blip r:embed="rId3">
            <a:alphaModFix/>
          </a:blip>
          <a:srcRect/>
          <a:stretch/>
        </p:blipFill>
        <p:spPr>
          <a:xfrm>
            <a:off x="502920" y="1097280"/>
            <a:ext cx="3063240" cy="3456432"/>
          </a:xfrm>
          <a:prstGeom prst="rect">
            <a:avLst/>
          </a:prstGeom>
          <a:noFill/>
          <a:ln>
            <a:noFill/>
          </a:ln>
        </p:spPr>
      </p:pic>
      <p:sp>
        <p:nvSpPr>
          <p:cNvPr id="109" name="Google Shape;109;p8"/>
          <p:cNvSpPr/>
          <p:nvPr/>
        </p:nvSpPr>
        <p:spPr>
          <a:xfrm>
            <a:off x="3840480" y="1097280"/>
            <a:ext cx="4800600" cy="1298448"/>
          </a:xfrm>
          <a:prstGeom prst="roundRect">
            <a:avLst>
              <a:gd name="adj" fmla="val 3521"/>
            </a:avLst>
          </a:prstGeom>
          <a:solidFill>
            <a:srgbClr val="1F1C18"/>
          </a:solidFill>
          <a:ln w="12700" cap="flat" cmpd="sng">
            <a:solidFill>
              <a:srgbClr val="1F1C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8"/>
          <p:cNvSpPr txBox="1"/>
          <p:nvPr/>
        </p:nvSpPr>
        <p:spPr>
          <a:xfrm>
            <a:off x="3968496" y="1188720"/>
            <a:ext cx="4544568" cy="1115568"/>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EDE6D8"/>
              </a:buClr>
              <a:buSzPts val="950"/>
              <a:buFont typeface="Courier New"/>
              <a:buNone/>
            </a:pPr>
            <a:r>
              <a:rPr lang="en-US" sz="950">
                <a:solidFill>
                  <a:srgbClr val="EDE6D8"/>
                </a:solidFill>
                <a:latin typeface="Courier New"/>
                <a:ea typeface="Courier New"/>
                <a:cs typeface="Courier New"/>
                <a:sym typeface="Courier New"/>
              </a:rPr>
              <a:t>val acceptable = stageResults.filter {</a:t>
            </a:r>
            <a:endParaRPr sz="95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950"/>
              <a:buFont typeface="Courier New"/>
              <a:buNone/>
            </a:pPr>
            <a:r>
              <a:rPr lang="en-US" sz="950">
                <a:solidFill>
                  <a:srgbClr val="EDE6D8"/>
                </a:solidFill>
                <a:latin typeface="Courier New"/>
                <a:ea typeface="Courier New"/>
                <a:cs typeface="Courier New"/>
                <a:sym typeface="Courier New"/>
              </a:rPr>
              <a:t>    it.accuracy &gt;= Config.PRAG_RAZUMEVANJA</a:t>
            </a:r>
            <a:endParaRPr sz="95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950"/>
              <a:buFont typeface="Courier New"/>
              <a:buNone/>
            </a:pPr>
            <a:r>
              <a:rPr lang="en-US" sz="950">
                <a:solidFill>
                  <a:srgbClr val="EDE6D8"/>
                </a:solidFill>
                <a:latin typeface="Courier New"/>
                <a:ea typeface="Courier New"/>
                <a:cs typeface="Courier New"/>
                <a:sym typeface="Courier New"/>
              </a:rPr>
              <a:t>}</a:t>
            </a:r>
            <a:endParaRPr sz="95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950"/>
              <a:buFont typeface="Courier New"/>
              <a:buNone/>
            </a:pPr>
            <a:r>
              <a:rPr lang="en-US" sz="950">
                <a:solidFill>
                  <a:srgbClr val="EDE6D8"/>
                </a:solidFill>
                <a:latin typeface="Courier New"/>
                <a:ea typeface="Courier New"/>
                <a:cs typeface="Courier New"/>
                <a:sym typeface="Courier New"/>
              </a:rPr>
              <a:t>val optimal = if (acceptable.isNotEmpty())</a:t>
            </a:r>
            <a:endParaRPr sz="95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950"/>
              <a:buFont typeface="Courier New"/>
              <a:buNone/>
            </a:pPr>
            <a:r>
              <a:rPr lang="en-US" sz="950">
                <a:solidFill>
                  <a:srgbClr val="EDE6D8"/>
                </a:solidFill>
                <a:latin typeface="Courier New"/>
                <a:ea typeface="Courier New"/>
                <a:cs typeface="Courier New"/>
                <a:sym typeface="Courier New"/>
              </a:rPr>
              <a:t>        acceptable.maxOf { it.wpmUsed }</a:t>
            </a:r>
            <a:endParaRPr sz="950">
              <a:solidFill>
                <a:schemeClr val="dk1"/>
              </a:solidFill>
              <a:latin typeface="Calibri"/>
              <a:ea typeface="Calibri"/>
              <a:cs typeface="Calibri"/>
              <a:sym typeface="Calibri"/>
            </a:endParaRPr>
          </a:p>
          <a:p>
            <a:pPr marL="0" marR="0" lvl="0" indent="0" algn="l" rtl="0">
              <a:lnSpc>
                <a:spcPct val="92000"/>
              </a:lnSpc>
              <a:spcBef>
                <a:spcPts val="0"/>
              </a:spcBef>
              <a:spcAft>
                <a:spcPts val="0"/>
              </a:spcAft>
              <a:buClr>
                <a:srgbClr val="EDE6D8"/>
              </a:buClr>
              <a:buSzPts val="950"/>
              <a:buFont typeface="Courier New"/>
              <a:buNone/>
            </a:pPr>
            <a:r>
              <a:rPr lang="en-US" sz="950">
                <a:solidFill>
                  <a:srgbClr val="EDE6D8"/>
                </a:solidFill>
                <a:latin typeface="Courier New"/>
                <a:ea typeface="Courier New"/>
                <a:cs typeface="Courier New"/>
                <a:sym typeface="Courier New"/>
              </a:rPr>
              <a:t>    else 50</a:t>
            </a:r>
            <a:endParaRPr sz="950">
              <a:solidFill>
                <a:schemeClr val="dk1"/>
              </a:solidFill>
              <a:latin typeface="Calibri"/>
              <a:ea typeface="Calibri"/>
              <a:cs typeface="Calibri"/>
              <a:sym typeface="Calibri"/>
            </a:endParaRPr>
          </a:p>
        </p:txBody>
      </p:sp>
      <p:sp>
        <p:nvSpPr>
          <p:cNvPr id="111" name="Google Shape;111;p8"/>
          <p:cNvSpPr/>
          <p:nvPr/>
        </p:nvSpPr>
        <p:spPr>
          <a:xfrm>
            <a:off x="3840480" y="2505456"/>
            <a:ext cx="4800600" cy="960120"/>
          </a:xfrm>
          <a:prstGeom prst="roundRect">
            <a:avLst>
              <a:gd name="adj" fmla="val 5714"/>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8"/>
          <p:cNvSpPr txBox="1"/>
          <p:nvPr/>
        </p:nvSpPr>
        <p:spPr>
          <a:xfrm>
            <a:off x="4069080" y="2615184"/>
            <a:ext cx="42976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150"/>
              <a:buFont typeface="Calibri"/>
              <a:buNone/>
            </a:pPr>
            <a:r>
              <a:rPr lang="en-US" sz="1150" b="1">
                <a:solidFill>
                  <a:srgbClr val="AE7413"/>
                </a:solidFill>
                <a:latin typeface="Calibri"/>
                <a:ea typeface="Calibri"/>
                <a:cs typeface="Calibri"/>
                <a:sym typeface="Calibri"/>
              </a:rPr>
              <a:t>Како тече</a:t>
            </a:r>
            <a:endParaRPr sz="1150">
              <a:solidFill>
                <a:schemeClr val="dk1"/>
              </a:solidFill>
              <a:latin typeface="Calibri"/>
              <a:ea typeface="Calibri"/>
              <a:cs typeface="Calibri"/>
              <a:sym typeface="Calibri"/>
            </a:endParaRPr>
          </a:p>
        </p:txBody>
      </p:sp>
      <p:sp>
        <p:nvSpPr>
          <p:cNvPr id="113" name="Google Shape;113;p8"/>
          <p:cNvSpPr txBox="1"/>
          <p:nvPr/>
        </p:nvSpPr>
        <p:spPr>
          <a:xfrm>
            <a:off x="4069080" y="2834640"/>
            <a:ext cx="4343400" cy="566928"/>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None/>
            </a:pPr>
            <a:r>
              <a:rPr lang="en-US" sz="1000">
                <a:solidFill>
                  <a:srgbClr val="3A342D"/>
                </a:solidFill>
                <a:latin typeface="Calibri"/>
                <a:ea typeface="Calibri"/>
                <a:cs typeface="Calibri"/>
                <a:sym typeface="Calibri"/>
              </a:rPr>
              <a:t>Три закључене брзине су 100, 250 и 350 WPM, где свака са својим текстом и квизом после. Распоред текстова по брзинама ротира се при сваком покретању, да редослед текстова не буде системски везан за редослед брзина. Број брзина и праг стоје као подешавања, не у логици алгоритма.</a:t>
            </a:r>
            <a:endParaRPr sz="1000">
              <a:solidFill>
                <a:schemeClr val="dk1"/>
              </a:solidFill>
              <a:latin typeface="Calibri"/>
              <a:ea typeface="Calibri"/>
              <a:cs typeface="Calibri"/>
              <a:sym typeface="Calibri"/>
            </a:endParaRPr>
          </a:p>
        </p:txBody>
      </p:sp>
      <p:sp>
        <p:nvSpPr>
          <p:cNvPr id="114" name="Google Shape;114;p8"/>
          <p:cNvSpPr/>
          <p:nvPr/>
        </p:nvSpPr>
        <p:spPr>
          <a:xfrm>
            <a:off x="3840480" y="3584448"/>
            <a:ext cx="4800600" cy="969264"/>
          </a:xfrm>
          <a:prstGeom prst="roundRect">
            <a:avLst>
              <a:gd name="adj" fmla="val 5660"/>
            </a:avLst>
          </a:prstGeom>
          <a:solidFill>
            <a:srgbClr val="E9DCC5"/>
          </a:solidFill>
          <a:ln w="12700" cap="flat" cmpd="sng">
            <a:solidFill>
              <a:srgbClr val="E9DC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8"/>
          <p:cNvSpPr txBox="1"/>
          <p:nvPr/>
        </p:nvSpPr>
        <p:spPr>
          <a:xfrm>
            <a:off x="4069080" y="3694176"/>
            <a:ext cx="42976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2F2A"/>
              </a:buClr>
              <a:buSzPts val="1150"/>
              <a:buFont typeface="Calibri"/>
              <a:buNone/>
            </a:pPr>
            <a:r>
              <a:rPr lang="en-US" sz="1150" b="1">
                <a:solidFill>
                  <a:srgbClr val="8C2F2A"/>
                </a:solidFill>
                <a:latin typeface="Calibri"/>
                <a:ea typeface="Calibri"/>
                <a:cs typeface="Calibri"/>
                <a:sym typeface="Calibri"/>
              </a:rPr>
              <a:t>Два уграђена ризика</a:t>
            </a:r>
            <a:endParaRPr sz="1150">
              <a:solidFill>
                <a:schemeClr val="dk1"/>
              </a:solidFill>
              <a:latin typeface="Calibri"/>
              <a:ea typeface="Calibri"/>
              <a:cs typeface="Calibri"/>
              <a:sym typeface="Calibri"/>
            </a:endParaRPr>
          </a:p>
        </p:txBody>
      </p:sp>
      <p:sp>
        <p:nvSpPr>
          <p:cNvPr id="116" name="Google Shape;116;p8"/>
          <p:cNvSpPr txBox="1"/>
          <p:nvPr/>
        </p:nvSpPr>
        <p:spPr>
          <a:xfrm>
            <a:off x="4069080" y="3913632"/>
            <a:ext cx="4343400" cy="566928"/>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None/>
            </a:pPr>
            <a:r>
              <a:rPr lang="en-US" sz="1000">
                <a:solidFill>
                  <a:srgbClr val="3A342D"/>
                </a:solidFill>
                <a:latin typeface="Calibri"/>
                <a:ea typeface="Calibri"/>
                <a:cs typeface="Calibri"/>
                <a:sym typeface="Calibri"/>
              </a:rPr>
              <a:t>Узимање максимума по свега три мерења бира горњи реп случајних одступања. А ако ниједна етапа не пређе праг, уписује се резервних 50 WPM као вредност која на том кориснику није ни измерена. Који се од та два чешће јавио, показују резултати.</a:t>
            </a:r>
            <a:endParaRPr sz="1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CFAF6"/>
        </a:solidFill>
        <a:effectLst/>
      </p:bgPr>
    </p:bg>
    <p:spTree>
      <p:nvGrpSpPr>
        <p:cNvPr id="1" name=""/>
        <p:cNvGrpSpPr/>
        <p:nvPr/>
      </p:nvGrpSpPr>
      <p:grpSpPr>
        <a:xfrm>
          <a:off x="0" y="0"/>
          <a:ext cx="0" cy="0"/>
          <a:chOff x="0" y="0"/>
          <a:chExt cx="0" cy="0"/>
        </a:xfrm>
      </p:grpSpPr>
      <p:sp>
        <p:nvSpPr>
          <p:cNvPr id="2" name="Text 0"/>
          <p:cNvSpPr txBox="1"/>
          <p:nvPr/>
        </p:nvSpPr>
        <p:spPr>
          <a:xfrm>
            <a:off x="502920" y="274320"/>
            <a:ext cx="8138160" cy="219456"/>
          </a:xfrm>
          <a:prstGeom prst="rect">
            <a:avLst/>
          </a:prstGeom>
          <a:noFill/>
          <a:ln/>
        </p:spPr>
        <p:txBody>
          <a:bodyPr wrap="square" lIns="0" tIns="0" rIns="0" bIns="0" rtlCol="0" anchor="ctr"/>
          <a:lstStyle/>
          <a:p>
            <a:pPr marL="0" indent="0">
              <a:buNone/>
            </a:pPr>
            <a:r>
              <a:rPr lang="en-US" sz="1000" b="1" kern="0" spc="160">
                <a:solidFill>
                  <a:srgbClr val="AE7413"/>
                </a:solidFill>
                <a:latin typeface="Calibri" pitchFamily="34" charset="0"/>
                <a:ea typeface="Calibri" pitchFamily="34" charset="-122"/>
                <a:cs typeface="Calibri" pitchFamily="34" charset="-120"/>
              </a:rPr>
              <a:t>КОРИСНИЧКИ ИНТЕРФЕЈС</a:t>
            </a:r>
            <a:endParaRPr lang="en-US" sz="1000"/>
          </a:p>
        </p:txBody>
      </p:sp>
      <p:sp>
        <p:nvSpPr>
          <p:cNvPr id="3" name="Text 1"/>
          <p:cNvSpPr txBox="1"/>
          <p:nvPr/>
        </p:nvSpPr>
        <p:spPr>
          <a:xfrm>
            <a:off x="502920" y="512064"/>
            <a:ext cx="8138160" cy="502920"/>
          </a:xfrm>
          <a:prstGeom prst="rect">
            <a:avLst/>
          </a:prstGeom>
          <a:noFill/>
          <a:ln/>
        </p:spPr>
        <p:txBody>
          <a:bodyPr wrap="square" lIns="0" tIns="0" rIns="0" bIns="0" rtlCol="0" anchor="ctr"/>
          <a:lstStyle/>
          <a:p>
            <a:pPr marL="0" indent="0">
              <a:buNone/>
            </a:pPr>
            <a:r>
              <a:rPr lang="en-US" sz="2600" b="1">
                <a:solidFill>
                  <a:srgbClr val="1B1815"/>
                </a:solidFill>
                <a:latin typeface="Cambria" pitchFamily="34" charset="0"/>
                <a:ea typeface="Cambria" pitchFamily="34" charset="-122"/>
                <a:cs typeface="Cambria" pitchFamily="34" charset="-120"/>
              </a:rPr>
              <a:t>Приказ, контроле и извештај учесника</a:t>
            </a:r>
            <a:endParaRPr lang="en-US" sz="2600"/>
          </a:p>
        </p:txBody>
      </p:sp>
      <p:sp>
        <p:nvSpPr>
          <p:cNvPr id="4" name="Text 2"/>
          <p:cNvSpPr txBox="1"/>
          <p:nvPr/>
        </p:nvSpPr>
        <p:spPr>
          <a:xfrm>
            <a:off x="8275320" y="4754880"/>
            <a:ext cx="457200" cy="228600"/>
          </a:xfrm>
          <a:prstGeom prst="rect">
            <a:avLst/>
          </a:prstGeom>
          <a:noFill/>
          <a:ln/>
        </p:spPr>
        <p:txBody>
          <a:bodyPr wrap="square" lIns="0" tIns="0" rIns="0" bIns="0" rtlCol="0" anchor="ctr"/>
          <a:lstStyle/>
          <a:p>
            <a:pPr marL="0" indent="0" algn="r">
              <a:buNone/>
            </a:pPr>
            <a:r>
              <a:rPr lang="en-US" sz="900">
                <a:solidFill>
                  <a:srgbClr val="8A8176"/>
                </a:solidFill>
                <a:latin typeface="Calibri" pitchFamily="34" charset="0"/>
                <a:ea typeface="Calibri" pitchFamily="34" charset="-122"/>
                <a:cs typeface="Calibri" pitchFamily="34" charset="-120"/>
              </a:rPr>
              <a:t>11</a:t>
            </a:r>
            <a:endParaRPr lang="en-US" sz="900"/>
          </a:p>
        </p:txBody>
      </p:sp>
      <p:sp>
        <p:nvSpPr>
          <p:cNvPr id="8" name="Text 3"/>
          <p:cNvSpPr txBox="1"/>
          <p:nvPr/>
        </p:nvSpPr>
        <p:spPr>
          <a:xfrm>
            <a:off x="502920" y="3877056"/>
            <a:ext cx="8138160" cy="201168"/>
          </a:xfrm>
          <a:prstGeom prst="rect">
            <a:avLst/>
          </a:prstGeom>
          <a:noFill/>
          <a:ln/>
        </p:spPr>
        <p:txBody>
          <a:bodyPr wrap="square" lIns="0" tIns="0" rIns="0" bIns="0" rtlCol="0" anchor="ctr"/>
          <a:lstStyle/>
          <a:p>
            <a:pPr marL="0" indent="0">
              <a:buNone/>
            </a:pPr>
            <a:r>
              <a:rPr lang="en-US" sz="900" i="1">
                <a:solidFill>
                  <a:srgbClr val="8A8176"/>
                </a:solidFill>
                <a:latin typeface="Calibri" pitchFamily="34" charset="0"/>
                <a:ea typeface="Calibri" pitchFamily="34" charset="-122"/>
                <a:cs typeface="Calibri" pitchFamily="34" charset="-120"/>
              </a:rPr>
              <a:t>Почетни екран  ·  екран читања  ·  извештај учесника</a:t>
            </a:r>
            <a:endParaRPr lang="en-US" sz="900"/>
          </a:p>
        </p:txBody>
      </p:sp>
      <p:sp>
        <p:nvSpPr>
          <p:cNvPr id="9" name="Shape 4"/>
          <p:cNvSpPr/>
          <p:nvPr/>
        </p:nvSpPr>
        <p:spPr>
          <a:xfrm>
            <a:off x="502920" y="4114800"/>
            <a:ext cx="2606040" cy="566928"/>
          </a:xfrm>
          <a:prstGeom prst="roundRect">
            <a:avLst>
              <a:gd name="adj" fmla="val 9677"/>
            </a:avLst>
          </a:prstGeom>
          <a:solidFill>
            <a:srgbClr val="F3EAD9"/>
          </a:solidFill>
          <a:ln w="12700">
            <a:solidFill>
              <a:srgbClr val="F3EAD9"/>
            </a:solidFill>
            <a:prstDash val="solid"/>
          </a:ln>
        </p:spPr>
      </p:sp>
      <p:sp>
        <p:nvSpPr>
          <p:cNvPr id="10" name="Text 5"/>
          <p:cNvSpPr txBox="1"/>
          <p:nvPr/>
        </p:nvSpPr>
        <p:spPr>
          <a:xfrm>
            <a:off x="649224" y="4169664"/>
            <a:ext cx="2377440" cy="182880"/>
          </a:xfrm>
          <a:prstGeom prst="rect">
            <a:avLst/>
          </a:prstGeom>
          <a:noFill/>
          <a:ln/>
        </p:spPr>
        <p:txBody>
          <a:bodyPr wrap="square" lIns="0" tIns="0" rIns="0" bIns="0" rtlCol="0" anchor="ctr"/>
          <a:lstStyle/>
          <a:p>
            <a:pPr marL="0" indent="0">
              <a:buNone/>
            </a:pPr>
            <a:r>
              <a:rPr lang="en-US" sz="1000" b="1">
                <a:solidFill>
                  <a:srgbClr val="AE7413"/>
                </a:solidFill>
                <a:latin typeface="Calibri" pitchFamily="34" charset="0"/>
                <a:ea typeface="Calibri" pitchFamily="34" charset="-122"/>
                <a:cs typeface="Calibri" pitchFamily="34" charset="-120"/>
              </a:rPr>
              <a:t>ORP</a:t>
            </a:r>
            <a:endParaRPr lang="en-US" sz="1000"/>
          </a:p>
        </p:txBody>
      </p:sp>
      <p:sp>
        <p:nvSpPr>
          <p:cNvPr id="11" name="Text 6"/>
          <p:cNvSpPr txBox="1"/>
          <p:nvPr/>
        </p:nvSpPr>
        <p:spPr>
          <a:xfrm>
            <a:off x="649224" y="4343400"/>
            <a:ext cx="2377440" cy="301752"/>
          </a:xfrm>
          <a:prstGeom prst="rect">
            <a:avLst/>
          </a:prstGeom>
          <a:noFill/>
          <a:ln/>
        </p:spPr>
        <p:txBody>
          <a:bodyPr wrap="square" lIns="0" tIns="0" rIns="0" bIns="0" rtlCol="0" anchor="ctr"/>
          <a:lstStyle/>
          <a:p>
            <a:pPr marL="0" indent="0">
              <a:lnSpc>
                <a:spcPct val="90000"/>
              </a:lnSpc>
              <a:buNone/>
            </a:pPr>
            <a:r>
              <a:rPr lang="en-US" sz="850">
                <a:solidFill>
                  <a:srgbClr val="3A342D"/>
                </a:solidFill>
                <a:latin typeface="Calibri" pitchFamily="34" charset="0"/>
                <a:ea typeface="Calibri" pitchFamily="34" charset="-122"/>
                <a:cs typeface="Calibri" pitchFamily="34" charset="-120"/>
              </a:rPr>
              <a:t>orpIndex(): 2. слово до 5 знакова, 3. до 9, 4. до 13, 5. за дуже. Сидро anchorFraction = 0.42f, цртано на Canvas-у.</a:t>
            </a:r>
            <a:endParaRPr lang="en-US" sz="850"/>
          </a:p>
        </p:txBody>
      </p:sp>
      <p:sp>
        <p:nvSpPr>
          <p:cNvPr id="12" name="Shape 7"/>
          <p:cNvSpPr/>
          <p:nvPr/>
        </p:nvSpPr>
        <p:spPr>
          <a:xfrm>
            <a:off x="3273552" y="4114800"/>
            <a:ext cx="2606040" cy="566928"/>
          </a:xfrm>
          <a:prstGeom prst="roundRect">
            <a:avLst>
              <a:gd name="adj" fmla="val 9677"/>
            </a:avLst>
          </a:prstGeom>
          <a:solidFill>
            <a:srgbClr val="F3EAD9"/>
          </a:solidFill>
          <a:ln w="12700">
            <a:solidFill>
              <a:srgbClr val="F3EAD9"/>
            </a:solidFill>
            <a:prstDash val="solid"/>
          </a:ln>
        </p:spPr>
      </p:sp>
      <p:sp>
        <p:nvSpPr>
          <p:cNvPr id="13" name="Text 8"/>
          <p:cNvSpPr txBox="1"/>
          <p:nvPr/>
        </p:nvSpPr>
        <p:spPr>
          <a:xfrm>
            <a:off x="3419856" y="4169664"/>
            <a:ext cx="2377440" cy="182880"/>
          </a:xfrm>
          <a:prstGeom prst="rect">
            <a:avLst/>
          </a:prstGeom>
          <a:noFill/>
          <a:ln/>
        </p:spPr>
        <p:txBody>
          <a:bodyPr wrap="square" lIns="0" tIns="0" rIns="0" bIns="0" rtlCol="0" anchor="ctr"/>
          <a:lstStyle/>
          <a:p>
            <a:pPr marL="0" indent="0">
              <a:buNone/>
            </a:pPr>
            <a:r>
              <a:rPr lang="en-US" sz="1000" b="1">
                <a:solidFill>
                  <a:srgbClr val="AE7413"/>
                </a:solidFill>
                <a:latin typeface="Calibri" pitchFamily="34" charset="0"/>
                <a:ea typeface="Calibri" pitchFamily="34" charset="-122"/>
                <a:cs typeface="Calibri" pitchFamily="34" charset="-120"/>
              </a:rPr>
              <a:t>Закључане контроле</a:t>
            </a:r>
            <a:endParaRPr lang="en-US" sz="1000"/>
          </a:p>
        </p:txBody>
      </p:sp>
      <p:sp>
        <p:nvSpPr>
          <p:cNvPr id="14" name="Text 9"/>
          <p:cNvSpPr txBox="1"/>
          <p:nvPr/>
        </p:nvSpPr>
        <p:spPr>
          <a:xfrm>
            <a:off x="3419856" y="4343400"/>
            <a:ext cx="2377440" cy="301752"/>
          </a:xfrm>
          <a:prstGeom prst="rect">
            <a:avLst/>
          </a:prstGeom>
          <a:noFill/>
          <a:ln/>
        </p:spPr>
        <p:txBody>
          <a:bodyPr wrap="square" lIns="0" tIns="0" rIns="0" bIns="0" rtlCol="0" anchor="ctr"/>
          <a:lstStyle/>
          <a:p>
            <a:pPr marL="0" indent="0">
              <a:lnSpc>
                <a:spcPct val="90000"/>
              </a:lnSpc>
              <a:buNone/>
            </a:pPr>
            <a:r>
              <a:rPr lang="en-US" sz="850">
                <a:solidFill>
                  <a:srgbClr val="3A342D"/>
                </a:solidFill>
                <a:latin typeface="Calibri" pitchFamily="34" charset="0"/>
                <a:ea typeface="Calibri" pitchFamily="34" charset="-122"/>
                <a:cs typeface="Calibri" pitchFamily="34" charset="-120"/>
              </a:rPr>
              <a:t>У оба мерена услова ред са контролама се уопште не приказује, па измена темпа усред мерења није ни могућа.</a:t>
            </a:r>
            <a:endParaRPr lang="en-US" sz="850"/>
          </a:p>
        </p:txBody>
      </p:sp>
      <p:sp>
        <p:nvSpPr>
          <p:cNvPr id="15" name="Shape 10"/>
          <p:cNvSpPr/>
          <p:nvPr/>
        </p:nvSpPr>
        <p:spPr>
          <a:xfrm>
            <a:off x="6044184" y="4114800"/>
            <a:ext cx="2606040" cy="566928"/>
          </a:xfrm>
          <a:prstGeom prst="roundRect">
            <a:avLst>
              <a:gd name="adj" fmla="val 9677"/>
            </a:avLst>
          </a:prstGeom>
          <a:solidFill>
            <a:srgbClr val="F3EAD9"/>
          </a:solidFill>
          <a:ln w="12700">
            <a:solidFill>
              <a:srgbClr val="F3EAD9"/>
            </a:solidFill>
            <a:prstDash val="solid"/>
          </a:ln>
        </p:spPr>
      </p:sp>
      <p:sp>
        <p:nvSpPr>
          <p:cNvPr id="16" name="Text 11"/>
          <p:cNvSpPr txBox="1"/>
          <p:nvPr/>
        </p:nvSpPr>
        <p:spPr>
          <a:xfrm>
            <a:off x="6190488" y="4169664"/>
            <a:ext cx="2377440" cy="182880"/>
          </a:xfrm>
          <a:prstGeom prst="rect">
            <a:avLst/>
          </a:prstGeom>
          <a:noFill/>
          <a:ln/>
        </p:spPr>
        <p:txBody>
          <a:bodyPr wrap="square" lIns="0" tIns="0" rIns="0" bIns="0" rtlCol="0" anchor="ctr"/>
          <a:lstStyle/>
          <a:p>
            <a:pPr marL="0" indent="0">
              <a:buNone/>
            </a:pPr>
            <a:r>
              <a:rPr lang="en-US" sz="1000" b="1">
                <a:solidFill>
                  <a:srgbClr val="AE7413"/>
                </a:solidFill>
                <a:latin typeface="Calibri" pitchFamily="34" charset="0"/>
                <a:ea typeface="Calibri" pitchFamily="34" charset="-122"/>
                <a:cs typeface="Calibri" pitchFamily="34" charset="-120"/>
              </a:rPr>
              <a:t>Извештај по runId</a:t>
            </a:r>
            <a:endParaRPr lang="en-US" sz="1000"/>
          </a:p>
        </p:txBody>
      </p:sp>
      <p:sp>
        <p:nvSpPr>
          <p:cNvPr id="17" name="Text 12"/>
          <p:cNvSpPr txBox="1"/>
          <p:nvPr/>
        </p:nvSpPr>
        <p:spPr>
          <a:xfrm>
            <a:off x="6190488" y="4343400"/>
            <a:ext cx="2377440" cy="301752"/>
          </a:xfrm>
          <a:prstGeom prst="rect">
            <a:avLst/>
          </a:prstGeom>
          <a:noFill/>
          <a:ln/>
        </p:spPr>
        <p:txBody>
          <a:bodyPr wrap="square" lIns="0" tIns="0" rIns="0" bIns="0" rtlCol="0" anchor="ctr"/>
          <a:lstStyle/>
          <a:p>
            <a:pPr marL="0" indent="0">
              <a:lnSpc>
                <a:spcPct val="90000"/>
              </a:lnSpc>
              <a:buNone/>
            </a:pPr>
            <a:r>
              <a:rPr lang="en-US" sz="850">
                <a:solidFill>
                  <a:srgbClr val="3A342D"/>
                </a:solidFill>
                <a:latin typeface="Calibri" pitchFamily="34" charset="0"/>
                <a:ea typeface="Calibri" pitchFamily="34" charset="-122"/>
                <a:cs typeface="Calibri" pitchFamily="34" charset="-120"/>
              </a:rPr>
              <a:t>ReportBuilder скупља све сесије, PdfReportGenerator их исцртава Android-овим PdfDocument API-јем.</a:t>
            </a:r>
            <a:endParaRPr lang="en-US" sz="850"/>
          </a:p>
        </p:txBody>
      </p:sp>
      <p:pic>
        <p:nvPicPr>
          <p:cNvPr id="18" name="Picture 17">
            <a:extLst>
              <a:ext uri="{FF2B5EF4-FFF2-40B4-BE49-F238E27FC236}">
                <a16:creationId xmlns:a16="http://schemas.microsoft.com/office/drawing/2014/main" id="{5BD42251-5569-DA0A-918D-A49A4373281F}"/>
              </a:ext>
            </a:extLst>
          </p:cNvPr>
          <p:cNvPicPr>
            <a:picLocks noChangeAspect="1"/>
          </p:cNvPicPr>
          <p:nvPr/>
        </p:nvPicPr>
        <p:blipFill>
          <a:blip r:embed="rId3"/>
          <a:stretch>
            <a:fillRect/>
          </a:stretch>
        </p:blipFill>
        <p:spPr>
          <a:xfrm>
            <a:off x="507098" y="1093733"/>
            <a:ext cx="1291511" cy="2749113"/>
          </a:xfrm>
          <a:prstGeom prst="rect">
            <a:avLst/>
          </a:prstGeom>
        </p:spPr>
      </p:pic>
      <p:pic>
        <p:nvPicPr>
          <p:cNvPr id="19" name="Picture 18">
            <a:extLst>
              <a:ext uri="{FF2B5EF4-FFF2-40B4-BE49-F238E27FC236}">
                <a16:creationId xmlns:a16="http://schemas.microsoft.com/office/drawing/2014/main" id="{BE91A96F-A87D-ED26-6EBD-DCB2A2A5DDC4}"/>
              </a:ext>
            </a:extLst>
          </p:cNvPr>
          <p:cNvPicPr>
            <a:picLocks noChangeAspect="1"/>
          </p:cNvPicPr>
          <p:nvPr/>
        </p:nvPicPr>
        <p:blipFill>
          <a:blip r:embed="rId4"/>
          <a:stretch>
            <a:fillRect/>
          </a:stretch>
        </p:blipFill>
        <p:spPr>
          <a:xfrm>
            <a:off x="1972278" y="1093733"/>
            <a:ext cx="1297477" cy="2749113"/>
          </a:xfrm>
          <a:prstGeom prst="rect">
            <a:avLst/>
          </a:prstGeom>
        </p:spPr>
      </p:pic>
      <p:pic>
        <p:nvPicPr>
          <p:cNvPr id="21" name="Picture 20">
            <a:extLst>
              <a:ext uri="{FF2B5EF4-FFF2-40B4-BE49-F238E27FC236}">
                <a16:creationId xmlns:a16="http://schemas.microsoft.com/office/drawing/2014/main" id="{333D1EFA-8585-B666-14F9-C69173A58659}"/>
              </a:ext>
            </a:extLst>
          </p:cNvPr>
          <p:cNvPicPr>
            <a:picLocks noChangeAspect="1"/>
          </p:cNvPicPr>
          <p:nvPr/>
        </p:nvPicPr>
        <p:blipFill>
          <a:blip r:embed="rId5"/>
          <a:stretch>
            <a:fillRect/>
          </a:stretch>
        </p:blipFill>
        <p:spPr>
          <a:xfrm>
            <a:off x="3563015" y="1093733"/>
            <a:ext cx="3785624" cy="2752638"/>
          </a:xfrm>
          <a:prstGeom prst="rect">
            <a:avLst/>
          </a:prstGeom>
        </p:spPr>
      </p:pic>
    </p:spTree>
    <p:extLst>
      <p:ext uri="{BB962C8B-B14F-4D97-AF65-F5344CB8AC3E}">
        <p14:creationId xmlns:p14="http://schemas.microsoft.com/office/powerpoint/2010/main" val="3984821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Shape 121"/>
        <p:cNvGrpSpPr/>
        <p:nvPr/>
      </p:nvGrpSpPr>
      <p:grpSpPr>
        <a:xfrm>
          <a:off x="0" y="0"/>
          <a:ext cx="0" cy="0"/>
          <a:chOff x="0" y="0"/>
          <a:chExt cx="0" cy="0"/>
        </a:xfrm>
      </p:grpSpPr>
      <p:sp>
        <p:nvSpPr>
          <p:cNvPr id="122" name="Google Shape;122;p9"/>
          <p:cNvSpPr txBox="1"/>
          <p:nvPr/>
        </p:nvSpPr>
        <p:spPr>
          <a:xfrm>
            <a:off x="502920" y="274320"/>
            <a:ext cx="81381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ЕВАЛУАЦИЈА</a:t>
            </a:r>
            <a:endParaRPr sz="1000">
              <a:solidFill>
                <a:schemeClr val="dk1"/>
              </a:solidFill>
              <a:latin typeface="Calibri"/>
              <a:ea typeface="Calibri"/>
              <a:cs typeface="Calibri"/>
              <a:sym typeface="Calibri"/>
            </a:endParaRPr>
          </a:p>
        </p:txBody>
      </p:sp>
      <p:sp>
        <p:nvSpPr>
          <p:cNvPr id="123" name="Google Shape;123;p9"/>
          <p:cNvSpPr txBox="1"/>
          <p:nvPr/>
        </p:nvSpPr>
        <p:spPr>
          <a:xfrm>
            <a:off x="502920" y="512064"/>
            <a:ext cx="8138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2600"/>
              <a:buFont typeface="Cambria"/>
              <a:buNone/>
            </a:pPr>
            <a:r>
              <a:rPr lang="en-US" sz="2600" b="1">
                <a:solidFill>
                  <a:srgbClr val="1B1815"/>
                </a:solidFill>
                <a:latin typeface="Cambria"/>
                <a:ea typeface="Cambria"/>
                <a:cs typeface="Cambria"/>
                <a:sym typeface="Cambria"/>
              </a:rPr>
              <a:t>Нацрт експеримента и хипотезе</a:t>
            </a:r>
            <a:endParaRPr sz="2600">
              <a:solidFill>
                <a:schemeClr val="dk1"/>
              </a:solidFill>
              <a:latin typeface="Calibri"/>
              <a:ea typeface="Calibri"/>
              <a:cs typeface="Calibri"/>
              <a:sym typeface="Calibri"/>
            </a:endParaRPr>
          </a:p>
        </p:txBody>
      </p:sp>
      <p:sp>
        <p:nvSpPr>
          <p:cNvPr id="124" name="Google Shape;124;p9"/>
          <p:cNvSpPr txBox="1"/>
          <p:nvPr/>
        </p:nvSpPr>
        <p:spPr>
          <a:xfrm>
            <a:off x="8275320" y="4754880"/>
            <a:ext cx="4572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8176"/>
              </a:buClr>
              <a:buSzPts val="900"/>
              <a:buFont typeface="Calibri"/>
              <a:buNone/>
            </a:pPr>
            <a:r>
              <a:rPr lang="en-US" sz="900">
                <a:solidFill>
                  <a:srgbClr val="8A8176"/>
                </a:solidFill>
                <a:latin typeface="Calibri"/>
                <a:ea typeface="Calibri"/>
                <a:cs typeface="Calibri"/>
                <a:sym typeface="Calibri"/>
              </a:rPr>
              <a:t>7</a:t>
            </a:r>
            <a:endParaRPr sz="900">
              <a:solidFill>
                <a:schemeClr val="dk1"/>
              </a:solidFill>
              <a:latin typeface="Calibri"/>
              <a:ea typeface="Calibri"/>
              <a:cs typeface="Calibri"/>
              <a:sym typeface="Calibri"/>
            </a:endParaRPr>
          </a:p>
        </p:txBody>
      </p:sp>
      <p:sp>
        <p:nvSpPr>
          <p:cNvPr id="125" name="Google Shape;125;p9"/>
          <p:cNvSpPr/>
          <p:nvPr/>
        </p:nvSpPr>
        <p:spPr>
          <a:xfrm>
            <a:off x="502920" y="1097280"/>
            <a:ext cx="3703320" cy="3456432"/>
          </a:xfrm>
          <a:prstGeom prst="roundRect">
            <a:avLst>
              <a:gd name="adj" fmla="val 1587"/>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9"/>
          <p:cNvSpPr txBox="1"/>
          <p:nvPr/>
        </p:nvSpPr>
        <p:spPr>
          <a:xfrm>
            <a:off x="777240" y="1280160"/>
            <a:ext cx="32004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300"/>
              <a:buFont typeface="Calibri"/>
              <a:buNone/>
            </a:pPr>
            <a:r>
              <a:rPr lang="en-US" sz="1300" b="1">
                <a:solidFill>
                  <a:srgbClr val="AE7413"/>
                </a:solidFill>
                <a:latin typeface="Calibri"/>
                <a:ea typeface="Calibri"/>
                <a:cs typeface="Calibri"/>
                <a:sym typeface="Calibri"/>
              </a:rPr>
              <a:t>Поставка</a:t>
            </a:r>
            <a:endParaRPr sz="1300">
              <a:solidFill>
                <a:schemeClr val="dk1"/>
              </a:solidFill>
              <a:latin typeface="Calibri"/>
              <a:ea typeface="Calibri"/>
              <a:cs typeface="Calibri"/>
              <a:sym typeface="Calibri"/>
            </a:endParaRPr>
          </a:p>
        </p:txBody>
      </p:sp>
      <p:sp>
        <p:nvSpPr>
          <p:cNvPr id="127" name="Google Shape;127;p9"/>
          <p:cNvSpPr txBox="1"/>
          <p:nvPr/>
        </p:nvSpPr>
        <p:spPr>
          <a:xfrm>
            <a:off x="777240" y="1591056"/>
            <a:ext cx="3200400" cy="2834640"/>
          </a:xfrm>
          <a:prstGeom prst="rect">
            <a:avLst/>
          </a:prstGeom>
          <a:noFill/>
          <a:ln>
            <a:noFill/>
          </a:ln>
        </p:spPr>
        <p:txBody>
          <a:bodyPr spcFirstLastPara="1" wrap="square" lIns="0" tIns="0" rIns="0" bIns="0" anchor="ctr" anchorCtr="0">
            <a:noAutofit/>
          </a:bodyPr>
          <a:lstStyle/>
          <a:p>
            <a:pPr marL="457200" marR="0" lvl="0" indent="-295275" algn="l" rtl="0">
              <a:spcBef>
                <a:spcPts val="0"/>
              </a:spcBef>
              <a:spcAft>
                <a:spcPts val="0"/>
              </a:spcAft>
              <a:buClr>
                <a:srgbClr val="3A342D"/>
              </a:buClr>
              <a:buSzPts val="1050"/>
              <a:buFont typeface="Calibri"/>
              <a:buChar char="●"/>
            </a:pPr>
            <a:r>
              <a:rPr lang="en-US" sz="1050" dirty="0" err="1">
                <a:solidFill>
                  <a:srgbClr val="3A342D"/>
                </a:solidFill>
                <a:latin typeface="Calibri"/>
                <a:ea typeface="Calibri"/>
                <a:cs typeface="Calibri"/>
                <a:sym typeface="Calibri"/>
              </a:rPr>
              <a:t>Унутарпредметни</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нацрт</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девет</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учесника</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пролази</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кроз</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сва</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три</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услова</a:t>
            </a:r>
            <a:r>
              <a:rPr lang="en-US" sz="1050" dirty="0">
                <a:solidFill>
                  <a:srgbClr val="3A342D"/>
                </a:solidFill>
                <a:latin typeface="Calibri"/>
                <a:ea typeface="Calibri"/>
                <a:cs typeface="Calibri"/>
                <a:sym typeface="Calibri"/>
              </a:rPr>
              <a:t> у </a:t>
            </a:r>
            <a:r>
              <a:rPr lang="en-US" sz="1050" dirty="0" err="1">
                <a:solidFill>
                  <a:srgbClr val="3A342D"/>
                </a:solidFill>
                <a:latin typeface="Calibri"/>
                <a:ea typeface="Calibri"/>
                <a:cs typeface="Calibri"/>
                <a:sym typeface="Calibri"/>
              </a:rPr>
              <a:t>једној</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седници</a:t>
            </a:r>
            <a:endParaRPr lang="en-US" sz="1050" dirty="0" err="1">
              <a:solidFill>
                <a:srgbClr val="3A342D"/>
              </a:solidFill>
              <a:latin typeface="Calibri"/>
              <a:ea typeface="Calibri"/>
              <a:cs typeface="Calibri"/>
            </a:endParaRPr>
          </a:p>
          <a:p>
            <a:pPr marL="457200" marR="0" lvl="0" indent="-295275" algn="l" rtl="0">
              <a:lnSpc>
                <a:spcPct val="100000"/>
              </a:lnSpc>
              <a:spcBef>
                <a:spcPts val="0"/>
              </a:spcBef>
              <a:spcAft>
                <a:spcPts val="0"/>
              </a:spcAft>
              <a:buClr>
                <a:srgbClr val="3A342D"/>
              </a:buClr>
              <a:buSzPts val="1050"/>
              <a:buFont typeface="Calibri"/>
              <a:buChar char="●"/>
            </a:pPr>
            <a:r>
              <a:rPr lang="en-US" sz="1050" dirty="0">
                <a:solidFill>
                  <a:srgbClr val="3A342D"/>
                </a:solidFill>
                <a:latin typeface="Calibri"/>
                <a:ea typeface="Calibri"/>
                <a:cs typeface="Calibri"/>
                <a:sym typeface="Calibri"/>
              </a:rPr>
              <a:t>Три </a:t>
            </a:r>
            <a:r>
              <a:rPr lang="en-US" sz="1050" dirty="0" err="1">
                <a:solidFill>
                  <a:srgbClr val="3A342D"/>
                </a:solidFill>
                <a:latin typeface="Calibri"/>
                <a:ea typeface="Calibri"/>
                <a:cs typeface="Calibri"/>
                <a:sym typeface="Calibri"/>
              </a:rPr>
              <a:t>текста</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при</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закљученој</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брзини</a:t>
            </a:r>
            <a:r>
              <a:rPr lang="en-US" sz="1050" dirty="0">
                <a:solidFill>
                  <a:srgbClr val="3A342D"/>
                </a:solidFill>
                <a:latin typeface="Calibri"/>
                <a:ea typeface="Calibri"/>
                <a:cs typeface="Calibri"/>
                <a:sym typeface="Calibri"/>
              </a:rPr>
              <a:t> (100 / 250 / 350 WPM), </a:t>
            </a:r>
            <a:r>
              <a:rPr lang="en-US" sz="1050" dirty="0" err="1">
                <a:solidFill>
                  <a:srgbClr val="3A342D"/>
                </a:solidFill>
                <a:latin typeface="Calibri"/>
                <a:ea typeface="Calibri"/>
                <a:cs typeface="Calibri"/>
                <a:sym typeface="Calibri"/>
              </a:rPr>
              <a:t>сваки</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са</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квизом</a:t>
            </a:r>
            <a:r>
              <a:rPr lang="en-US" sz="1050" dirty="0">
                <a:solidFill>
                  <a:srgbClr val="3A342D"/>
                </a:solidFill>
                <a:latin typeface="Calibri"/>
                <a:ea typeface="Calibri"/>
                <a:cs typeface="Calibri"/>
                <a:sym typeface="Calibri"/>
              </a:rPr>
              <a:t>.</a:t>
            </a:r>
            <a:endParaRPr sz="1050" dirty="0">
              <a:solidFill>
                <a:schemeClr val="dk1"/>
              </a:solidFill>
              <a:latin typeface="Calibri"/>
              <a:ea typeface="Calibri"/>
              <a:cs typeface="Calibri"/>
              <a:sym typeface="Calibri"/>
            </a:endParaRPr>
          </a:p>
          <a:p>
            <a:pPr marL="457200" marR="0" lvl="0" indent="-295275" algn="l" rtl="0">
              <a:spcBef>
                <a:spcPts val="0"/>
              </a:spcBef>
              <a:spcAft>
                <a:spcPts val="0"/>
              </a:spcAft>
              <a:buClr>
                <a:srgbClr val="3A342D"/>
              </a:buClr>
              <a:buSzPts val="1050"/>
              <a:buFont typeface="Calibri"/>
              <a:buChar char="●"/>
            </a:pPr>
            <a:r>
              <a:rPr lang="en-US" sz="1050" dirty="0" err="1">
                <a:solidFill>
                  <a:srgbClr val="3A342D"/>
                </a:solidFill>
                <a:latin typeface="Calibri"/>
                <a:ea typeface="Calibri"/>
                <a:cs typeface="Calibri"/>
                <a:sym typeface="Calibri"/>
              </a:rPr>
              <a:t>Четврти</a:t>
            </a:r>
            <a:r>
              <a:rPr lang="en-US" sz="1050" dirty="0">
                <a:solidFill>
                  <a:srgbClr val="3A342D"/>
                </a:solidFill>
                <a:latin typeface="Calibri"/>
                <a:ea typeface="Calibri"/>
                <a:cs typeface="Calibri"/>
                <a:sym typeface="Calibri"/>
              </a:rPr>
              <a:t> PISA </a:t>
            </a:r>
            <a:r>
              <a:rPr lang="en-US" sz="1050" dirty="0" err="1">
                <a:solidFill>
                  <a:srgbClr val="3A342D"/>
                </a:solidFill>
                <a:latin typeface="Calibri"/>
                <a:ea typeface="Calibri"/>
                <a:cs typeface="Calibri"/>
                <a:sym typeface="Calibri"/>
              </a:rPr>
              <a:t>текст</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кроз</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апликацију</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при</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израчунатој</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оптималној</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брзини</a:t>
            </a:r>
            <a:r>
              <a:rPr lang="en-US" sz="1050" dirty="0">
                <a:solidFill>
                  <a:srgbClr val="3A342D"/>
                </a:solidFill>
                <a:latin typeface="Calibri"/>
                <a:ea typeface="Calibri"/>
                <a:cs typeface="Calibri"/>
                <a:sym typeface="Calibri"/>
              </a:rPr>
              <a:t> и с </a:t>
            </a:r>
            <a:r>
              <a:rPr lang="en-US" sz="1050" dirty="0" err="1">
                <a:solidFill>
                  <a:srgbClr val="3A342D"/>
                </a:solidFill>
                <a:latin typeface="Calibri"/>
                <a:ea typeface="Calibri"/>
                <a:cs typeface="Calibri"/>
                <a:sym typeface="Calibri"/>
              </a:rPr>
              <a:t>пуном</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контролом</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темпа</a:t>
            </a:r>
            <a:r>
              <a:rPr lang="en-US" sz="1050" dirty="0">
                <a:solidFill>
                  <a:srgbClr val="3A342D"/>
                </a:solidFill>
                <a:latin typeface="Calibri"/>
                <a:ea typeface="Calibri"/>
                <a:cs typeface="Calibri"/>
                <a:sym typeface="Calibri"/>
              </a:rPr>
              <a:t>.</a:t>
            </a:r>
            <a:endParaRPr sz="1050" dirty="0">
              <a:solidFill>
                <a:schemeClr val="dk1"/>
              </a:solidFill>
              <a:latin typeface="Calibri"/>
              <a:ea typeface="Calibri"/>
              <a:cs typeface="Calibri"/>
              <a:sym typeface="Calibri"/>
            </a:endParaRPr>
          </a:p>
          <a:p>
            <a:pPr marL="457200" marR="0" lvl="0" indent="-295275" algn="l" rtl="0">
              <a:spcBef>
                <a:spcPts val="0"/>
              </a:spcBef>
              <a:spcAft>
                <a:spcPts val="0"/>
              </a:spcAft>
              <a:buClr>
                <a:srgbClr val="3A342D"/>
              </a:buClr>
              <a:buSzPts val="1050"/>
              <a:buFont typeface="Calibri"/>
              <a:buChar char="●"/>
            </a:pPr>
            <a:r>
              <a:rPr lang="en-US" sz="1050" dirty="0" err="1">
                <a:solidFill>
                  <a:srgbClr val="3A342D"/>
                </a:solidFill>
                <a:latin typeface="Calibri"/>
                <a:ea typeface="Calibri"/>
                <a:cs typeface="Calibri"/>
                <a:sym typeface="Calibri"/>
              </a:rPr>
              <a:t>Пети</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текст</a:t>
            </a:r>
            <a:r>
              <a:rPr lang="en-US" sz="1050" dirty="0">
                <a:solidFill>
                  <a:srgbClr val="3A342D"/>
                </a:solidFill>
                <a:latin typeface="Calibri"/>
                <a:ea typeface="Calibri"/>
                <a:cs typeface="Calibri"/>
                <a:sym typeface="Calibri"/>
              </a:rPr>
              <a:t> je </a:t>
            </a:r>
            <a:r>
              <a:rPr lang="en-US" sz="1050" dirty="0" err="1">
                <a:solidFill>
                  <a:srgbClr val="3A342D"/>
                </a:solidFill>
                <a:latin typeface="Calibri"/>
                <a:ea typeface="Calibri"/>
                <a:cs typeface="Calibri"/>
                <a:sym typeface="Calibri"/>
              </a:rPr>
              <a:t>други</a:t>
            </a:r>
            <a:r>
              <a:rPr lang="en-US" sz="1050" dirty="0">
                <a:solidFill>
                  <a:srgbClr val="3A342D"/>
                </a:solidFill>
                <a:latin typeface="Calibri"/>
                <a:ea typeface="Calibri"/>
                <a:cs typeface="Calibri"/>
                <a:sym typeface="Calibri"/>
              </a:rPr>
              <a:t> PISA </a:t>
            </a:r>
            <a:r>
              <a:rPr lang="en-US" sz="1050" dirty="0" err="1">
                <a:solidFill>
                  <a:srgbClr val="3A342D"/>
                </a:solidFill>
                <a:latin typeface="Calibri"/>
                <a:ea typeface="Calibri"/>
                <a:cs typeface="Calibri"/>
                <a:sym typeface="Calibri"/>
              </a:rPr>
              <a:t>на</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папиру</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време</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мерено</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штоперицом</a:t>
            </a:r>
            <a:r>
              <a:rPr lang="en-US" sz="1050" dirty="0">
                <a:solidFill>
                  <a:srgbClr val="3A342D"/>
                </a:solidFill>
                <a:latin typeface="Calibri"/>
                <a:ea typeface="Calibri"/>
                <a:cs typeface="Calibri"/>
                <a:sym typeface="Calibri"/>
              </a:rPr>
              <a:t>.</a:t>
            </a:r>
            <a:endParaRPr sz="1050" dirty="0">
              <a:solidFill>
                <a:schemeClr val="dk1"/>
              </a:solidFill>
              <a:latin typeface="Calibri"/>
              <a:ea typeface="Calibri"/>
              <a:cs typeface="Calibri"/>
              <a:sym typeface="Calibri"/>
            </a:endParaRPr>
          </a:p>
          <a:p>
            <a:pPr marL="457200" marR="0" lvl="0" indent="-295275" algn="l" rtl="0">
              <a:lnSpc>
                <a:spcPct val="100000"/>
              </a:lnSpc>
              <a:spcBef>
                <a:spcPts val="0"/>
              </a:spcBef>
              <a:spcAft>
                <a:spcPts val="0"/>
              </a:spcAft>
              <a:buClr>
                <a:srgbClr val="3A342D"/>
              </a:buClr>
              <a:buSzPts val="1050"/>
              <a:buFont typeface="Calibri"/>
              <a:buChar char="●"/>
            </a:pPr>
            <a:r>
              <a:rPr lang="en-US" sz="1050" dirty="0">
                <a:solidFill>
                  <a:srgbClr val="3A342D"/>
                </a:solidFill>
                <a:latin typeface="Calibri"/>
                <a:ea typeface="Calibri"/>
                <a:cs typeface="Calibri"/>
                <a:sym typeface="Calibri"/>
              </a:rPr>
              <a:t>Прилагодљиви </a:t>
            </a:r>
            <a:r>
              <a:rPr lang="en-US" sz="1050" dirty="0" err="1">
                <a:solidFill>
                  <a:srgbClr val="3A342D"/>
                </a:solidFill>
                <a:latin typeface="Calibri"/>
                <a:ea typeface="Calibri"/>
                <a:cs typeface="Calibri"/>
                <a:sym typeface="Calibri"/>
              </a:rPr>
              <a:t>режим</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намерно</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искључен</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при</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константном</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темпу</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свако</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одступање</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измерене</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брзине</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потиче</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искључиво</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од</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понашања</a:t>
            </a:r>
            <a:r>
              <a:rPr lang="en-US" sz="1050" dirty="0">
                <a:solidFill>
                  <a:srgbClr val="3A342D"/>
                </a:solidFill>
                <a:latin typeface="Calibri"/>
                <a:ea typeface="Calibri"/>
                <a:cs typeface="Calibri"/>
                <a:sym typeface="Calibri"/>
              </a:rPr>
              <a:t> </a:t>
            </a:r>
            <a:r>
              <a:rPr lang="en-US" sz="1050" dirty="0" err="1">
                <a:solidFill>
                  <a:srgbClr val="3A342D"/>
                </a:solidFill>
                <a:latin typeface="Calibri"/>
                <a:ea typeface="Calibri"/>
                <a:cs typeface="Calibri"/>
                <a:sym typeface="Calibri"/>
              </a:rPr>
              <a:t>учесника</a:t>
            </a:r>
            <a:r>
              <a:rPr lang="en-US" sz="1050" dirty="0">
                <a:solidFill>
                  <a:srgbClr val="3A342D"/>
                </a:solidFill>
                <a:latin typeface="Calibri"/>
                <a:ea typeface="Calibri"/>
                <a:cs typeface="Calibri"/>
                <a:sym typeface="Calibri"/>
              </a:rPr>
              <a:t>.</a:t>
            </a:r>
            <a:endParaRPr sz="1050" dirty="0">
              <a:solidFill>
                <a:schemeClr val="dk1"/>
              </a:solidFill>
              <a:latin typeface="Calibri"/>
              <a:ea typeface="Calibri"/>
              <a:cs typeface="Calibri"/>
              <a:sym typeface="Calibri"/>
            </a:endParaRPr>
          </a:p>
        </p:txBody>
      </p:sp>
      <p:sp>
        <p:nvSpPr>
          <p:cNvPr id="128" name="Google Shape;128;p9"/>
          <p:cNvSpPr/>
          <p:nvPr/>
        </p:nvSpPr>
        <p:spPr>
          <a:xfrm>
            <a:off x="4480560" y="1097280"/>
            <a:ext cx="4160520" cy="1051560"/>
          </a:xfrm>
          <a:prstGeom prst="roundRect">
            <a:avLst>
              <a:gd name="adj" fmla="val 5217"/>
            </a:avLst>
          </a:prstGeom>
          <a:solidFill>
            <a:srgbClr val="E9DCC5"/>
          </a:solidFill>
          <a:ln w="12700" cap="flat" cmpd="sng">
            <a:solidFill>
              <a:srgbClr val="E9DC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9"/>
          <p:cNvSpPr/>
          <p:nvPr/>
        </p:nvSpPr>
        <p:spPr>
          <a:xfrm>
            <a:off x="4681728" y="1243584"/>
            <a:ext cx="292608" cy="292608"/>
          </a:xfrm>
          <a:prstGeom prst="roundRect">
            <a:avLst>
              <a:gd name="adj" fmla="val 15625"/>
            </a:avLst>
          </a:prstGeom>
          <a:solidFill>
            <a:srgbClr val="8C2F2A"/>
          </a:solidFill>
          <a:ln w="12700" cap="flat" cmpd="sng">
            <a:solidFill>
              <a:srgbClr val="8C2F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txBox="1"/>
          <p:nvPr/>
        </p:nvSpPr>
        <p:spPr>
          <a:xfrm>
            <a:off x="4681728" y="1243584"/>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H1</a:t>
            </a:r>
            <a:endParaRPr sz="1200">
              <a:solidFill>
                <a:schemeClr val="dk1"/>
              </a:solidFill>
              <a:latin typeface="Calibri"/>
              <a:ea typeface="Calibri"/>
              <a:cs typeface="Calibri"/>
              <a:sym typeface="Calibri"/>
            </a:endParaRPr>
          </a:p>
        </p:txBody>
      </p:sp>
      <p:sp>
        <p:nvSpPr>
          <p:cNvPr id="131" name="Google Shape;131;p9"/>
          <p:cNvSpPr txBox="1"/>
          <p:nvPr/>
        </p:nvSpPr>
        <p:spPr>
          <a:xfrm>
            <a:off x="5102352" y="1225296"/>
            <a:ext cx="3383280" cy="384048"/>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1B1815"/>
              </a:buClr>
              <a:buSzPts val="1200"/>
              <a:buFont typeface="Calibri"/>
              <a:buNone/>
            </a:pPr>
            <a:r>
              <a:rPr lang="en-US" sz="1200" b="1">
                <a:solidFill>
                  <a:srgbClr val="1B1815"/>
                </a:solidFill>
                <a:latin typeface="Calibri"/>
                <a:ea typeface="Calibri"/>
                <a:cs typeface="Calibri"/>
                <a:sym typeface="Calibri"/>
              </a:rPr>
              <a:t>Тачност опада како расте закључена брзина</a:t>
            </a:r>
            <a:endParaRPr sz="1200">
              <a:solidFill>
                <a:schemeClr val="dk1"/>
              </a:solidFill>
              <a:latin typeface="Calibri"/>
              <a:ea typeface="Calibri"/>
              <a:cs typeface="Calibri"/>
              <a:sym typeface="Calibri"/>
            </a:endParaRPr>
          </a:p>
        </p:txBody>
      </p:sp>
      <p:sp>
        <p:nvSpPr>
          <p:cNvPr id="132" name="Google Shape;132;p9"/>
          <p:cNvSpPr txBox="1"/>
          <p:nvPr/>
        </p:nvSpPr>
        <p:spPr>
          <a:xfrm>
            <a:off x="5102352" y="1645920"/>
            <a:ext cx="3383280" cy="384048"/>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None/>
            </a:pPr>
            <a:r>
              <a:rPr lang="en-US" sz="1000">
                <a:solidFill>
                  <a:srgbClr val="3A342D"/>
                </a:solidFill>
                <a:latin typeface="Calibri"/>
                <a:ea typeface="Calibri"/>
                <a:cs typeface="Calibri"/>
                <a:sym typeface="Calibri"/>
              </a:rPr>
              <a:t>У складу с компромисом брзина, разумевање из прегледа литературе</a:t>
            </a:r>
            <a:endParaRPr sz="1000">
              <a:solidFill>
                <a:schemeClr val="dk1"/>
              </a:solidFill>
              <a:latin typeface="Calibri"/>
              <a:ea typeface="Calibri"/>
              <a:cs typeface="Calibri"/>
              <a:sym typeface="Calibri"/>
            </a:endParaRPr>
          </a:p>
        </p:txBody>
      </p:sp>
      <p:sp>
        <p:nvSpPr>
          <p:cNvPr id="133" name="Google Shape;133;p9"/>
          <p:cNvSpPr/>
          <p:nvPr/>
        </p:nvSpPr>
        <p:spPr>
          <a:xfrm>
            <a:off x="4480560" y="2276856"/>
            <a:ext cx="4160520" cy="1051560"/>
          </a:xfrm>
          <a:prstGeom prst="roundRect">
            <a:avLst>
              <a:gd name="adj" fmla="val 5217"/>
            </a:avLst>
          </a:prstGeom>
          <a:solidFill>
            <a:srgbClr val="E9DCC5"/>
          </a:solidFill>
          <a:ln w="12700" cap="flat" cmpd="sng">
            <a:solidFill>
              <a:srgbClr val="E9DC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9"/>
          <p:cNvSpPr/>
          <p:nvPr/>
        </p:nvSpPr>
        <p:spPr>
          <a:xfrm>
            <a:off x="4681728" y="2423160"/>
            <a:ext cx="292608" cy="292608"/>
          </a:xfrm>
          <a:prstGeom prst="roundRect">
            <a:avLst>
              <a:gd name="adj" fmla="val 15625"/>
            </a:avLst>
          </a:prstGeom>
          <a:solidFill>
            <a:srgbClr val="8C2F2A"/>
          </a:solidFill>
          <a:ln w="12700" cap="flat" cmpd="sng">
            <a:solidFill>
              <a:srgbClr val="8C2F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9"/>
          <p:cNvSpPr txBox="1"/>
          <p:nvPr/>
        </p:nvSpPr>
        <p:spPr>
          <a:xfrm>
            <a:off x="4681728" y="2423160"/>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H2</a:t>
            </a:r>
            <a:endParaRPr sz="1200">
              <a:solidFill>
                <a:schemeClr val="dk1"/>
              </a:solidFill>
              <a:latin typeface="Calibri"/>
              <a:ea typeface="Calibri"/>
              <a:cs typeface="Calibri"/>
              <a:sym typeface="Calibri"/>
            </a:endParaRPr>
          </a:p>
        </p:txBody>
      </p:sp>
      <p:sp>
        <p:nvSpPr>
          <p:cNvPr id="136" name="Google Shape;136;p9"/>
          <p:cNvSpPr txBox="1"/>
          <p:nvPr/>
        </p:nvSpPr>
        <p:spPr>
          <a:xfrm>
            <a:off x="5102352" y="2404872"/>
            <a:ext cx="3383280" cy="384048"/>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1B1815"/>
              </a:buClr>
              <a:buSzPts val="1200"/>
              <a:buFont typeface="Calibri"/>
              <a:buNone/>
            </a:pPr>
            <a:r>
              <a:rPr lang="en-US" sz="1200" b="1">
                <a:solidFill>
                  <a:srgbClr val="1B1815"/>
                </a:solidFill>
                <a:latin typeface="Calibri"/>
                <a:ea typeface="Calibri"/>
                <a:cs typeface="Calibri"/>
                <a:sym typeface="Calibri"/>
              </a:rPr>
              <a:t>Самотемпирано читање кроз апликацију упоредиво је с папиром</a:t>
            </a:r>
            <a:endParaRPr sz="1200">
              <a:solidFill>
                <a:schemeClr val="dk1"/>
              </a:solidFill>
              <a:latin typeface="Calibri"/>
              <a:ea typeface="Calibri"/>
              <a:cs typeface="Calibri"/>
              <a:sym typeface="Calibri"/>
            </a:endParaRPr>
          </a:p>
        </p:txBody>
      </p:sp>
      <p:sp>
        <p:nvSpPr>
          <p:cNvPr id="137" name="Google Shape;137;p9"/>
          <p:cNvSpPr txBox="1"/>
          <p:nvPr/>
        </p:nvSpPr>
        <p:spPr>
          <a:xfrm>
            <a:off x="5102352" y="2825496"/>
            <a:ext cx="3383280" cy="384048"/>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3A342D"/>
              </a:buClr>
              <a:buSzPts val="1000"/>
              <a:buFont typeface="Calibri"/>
              <a:buNone/>
            </a:pPr>
            <a:r>
              <a:rPr lang="en-US" sz="1000">
                <a:solidFill>
                  <a:srgbClr val="3A342D"/>
                </a:solidFill>
                <a:latin typeface="Calibri"/>
                <a:ea typeface="Calibri"/>
                <a:cs typeface="Calibri"/>
                <a:sym typeface="Calibri"/>
              </a:rPr>
              <a:t>Ако није, калибрација не проналази стварну границу учесника</a:t>
            </a:r>
            <a:endParaRPr sz="1000">
              <a:solidFill>
                <a:schemeClr val="dk1"/>
              </a:solidFill>
              <a:latin typeface="Calibri"/>
              <a:ea typeface="Calibri"/>
              <a:cs typeface="Calibri"/>
              <a:sym typeface="Calibri"/>
            </a:endParaRPr>
          </a:p>
        </p:txBody>
      </p:sp>
      <p:sp>
        <p:nvSpPr>
          <p:cNvPr id="138" name="Google Shape;138;p9"/>
          <p:cNvSpPr/>
          <p:nvPr/>
        </p:nvSpPr>
        <p:spPr>
          <a:xfrm>
            <a:off x="4480560" y="3456432"/>
            <a:ext cx="4160520" cy="1051560"/>
          </a:xfrm>
          <a:prstGeom prst="roundRect">
            <a:avLst>
              <a:gd name="adj" fmla="val 5217"/>
            </a:avLst>
          </a:prstGeom>
          <a:solidFill>
            <a:srgbClr val="E9DCC5"/>
          </a:solidFill>
          <a:ln w="12700" cap="flat" cmpd="sng">
            <a:solidFill>
              <a:srgbClr val="E9DC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9"/>
          <p:cNvSpPr/>
          <p:nvPr/>
        </p:nvSpPr>
        <p:spPr>
          <a:xfrm>
            <a:off x="4681728" y="3602736"/>
            <a:ext cx="292608" cy="292608"/>
          </a:xfrm>
          <a:prstGeom prst="roundRect">
            <a:avLst>
              <a:gd name="adj" fmla="val 15625"/>
            </a:avLst>
          </a:prstGeom>
          <a:solidFill>
            <a:srgbClr val="8C2F2A"/>
          </a:solidFill>
          <a:ln w="12700" cap="flat" cmpd="sng">
            <a:solidFill>
              <a:srgbClr val="8C2F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9"/>
          <p:cNvSpPr txBox="1"/>
          <p:nvPr/>
        </p:nvSpPr>
        <p:spPr>
          <a:xfrm>
            <a:off x="4681728" y="3602736"/>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H3</a:t>
            </a:r>
            <a:endParaRPr sz="1200">
              <a:solidFill>
                <a:schemeClr val="dk1"/>
              </a:solidFill>
              <a:latin typeface="Calibri"/>
              <a:ea typeface="Calibri"/>
              <a:cs typeface="Calibri"/>
              <a:sym typeface="Calibri"/>
            </a:endParaRPr>
          </a:p>
        </p:txBody>
      </p:sp>
      <p:sp>
        <p:nvSpPr>
          <p:cNvPr id="141" name="Google Shape;141;p9"/>
          <p:cNvSpPr txBox="1"/>
          <p:nvPr/>
        </p:nvSpPr>
        <p:spPr>
          <a:xfrm>
            <a:off x="5102352" y="3584448"/>
            <a:ext cx="3383280" cy="384048"/>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1B1815"/>
              </a:buClr>
              <a:buSzPts val="1200"/>
              <a:buFont typeface="Calibri"/>
              <a:buNone/>
            </a:pPr>
            <a:r>
              <a:rPr lang="en-US" sz="1200" b="1">
                <a:solidFill>
                  <a:srgbClr val="1B1815"/>
                </a:solidFill>
                <a:latin typeface="Calibri"/>
                <a:ea typeface="Calibri"/>
                <a:cs typeface="Calibri"/>
                <a:sym typeface="Calibri"/>
              </a:rPr>
              <a:t>Ефективна брзина је нижа од подешене</a:t>
            </a:r>
            <a:endParaRPr sz="1200">
              <a:solidFill>
                <a:schemeClr val="dk1"/>
              </a:solidFill>
              <a:latin typeface="Calibri"/>
              <a:ea typeface="Calibri"/>
              <a:cs typeface="Calibri"/>
              <a:sym typeface="Calibri"/>
            </a:endParaRPr>
          </a:p>
        </p:txBody>
      </p:sp>
      <p:sp>
        <p:nvSpPr>
          <p:cNvPr id="142" name="Google Shape;142;p9"/>
          <p:cNvSpPr txBox="1"/>
          <p:nvPr/>
        </p:nvSpPr>
        <p:spPr>
          <a:xfrm>
            <a:off x="5102352" y="4005072"/>
            <a:ext cx="3383280" cy="384048"/>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3A342D"/>
              </a:buClr>
              <a:buSzPts val="1000"/>
              <a:buFont typeface="Calibri"/>
              <a:buNone/>
            </a:pPr>
            <a:r>
              <a:rPr lang="en-US" sz="1000">
                <a:solidFill>
                  <a:srgbClr val="3A342D"/>
                </a:solidFill>
                <a:latin typeface="Calibri"/>
                <a:ea typeface="Calibri"/>
                <a:cs typeface="Calibri"/>
                <a:sym typeface="Calibri"/>
              </a:rPr>
              <a:t>Извор разлике је понашање учесника, пре свега враћања уназад</a:t>
            </a:r>
            <a:endParaRPr sz="1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Shape 147"/>
        <p:cNvGrpSpPr/>
        <p:nvPr/>
      </p:nvGrpSpPr>
      <p:grpSpPr>
        <a:xfrm>
          <a:off x="0" y="0"/>
          <a:ext cx="0" cy="0"/>
          <a:chOff x="0" y="0"/>
          <a:chExt cx="0" cy="0"/>
        </a:xfrm>
      </p:grpSpPr>
      <p:sp>
        <p:nvSpPr>
          <p:cNvPr id="148" name="Google Shape;148;p10"/>
          <p:cNvSpPr txBox="1"/>
          <p:nvPr/>
        </p:nvSpPr>
        <p:spPr>
          <a:xfrm>
            <a:off x="502920" y="274320"/>
            <a:ext cx="81381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РЕЗУЛТАТИ  ·  H1</a:t>
            </a:r>
            <a:endParaRPr sz="1000">
              <a:solidFill>
                <a:schemeClr val="dk1"/>
              </a:solidFill>
              <a:latin typeface="Calibri"/>
              <a:ea typeface="Calibri"/>
              <a:cs typeface="Calibri"/>
              <a:sym typeface="Calibri"/>
            </a:endParaRPr>
          </a:p>
        </p:txBody>
      </p:sp>
      <p:sp>
        <p:nvSpPr>
          <p:cNvPr id="149" name="Google Shape;149;p10"/>
          <p:cNvSpPr txBox="1"/>
          <p:nvPr/>
        </p:nvSpPr>
        <p:spPr>
          <a:xfrm>
            <a:off x="502920" y="512064"/>
            <a:ext cx="8138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2600"/>
              <a:buFont typeface="Cambria"/>
              <a:buNone/>
            </a:pPr>
            <a:r>
              <a:rPr lang="en-US" sz="2600" b="1">
                <a:solidFill>
                  <a:srgbClr val="1B1815"/>
                </a:solidFill>
                <a:latin typeface="Cambria"/>
                <a:ea typeface="Cambria"/>
                <a:cs typeface="Cambria"/>
                <a:sym typeface="Cambria"/>
              </a:rPr>
              <a:t>Тачност пада с растом брзине</a:t>
            </a:r>
            <a:endParaRPr sz="2600">
              <a:solidFill>
                <a:schemeClr val="dk1"/>
              </a:solidFill>
              <a:latin typeface="Calibri"/>
              <a:ea typeface="Calibri"/>
              <a:cs typeface="Calibri"/>
              <a:sym typeface="Calibri"/>
            </a:endParaRPr>
          </a:p>
        </p:txBody>
      </p:sp>
      <p:sp>
        <p:nvSpPr>
          <p:cNvPr id="150" name="Google Shape;150;p10"/>
          <p:cNvSpPr txBox="1"/>
          <p:nvPr/>
        </p:nvSpPr>
        <p:spPr>
          <a:xfrm>
            <a:off x="8275320" y="4754880"/>
            <a:ext cx="4572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8176"/>
              </a:buClr>
              <a:buSzPts val="900"/>
              <a:buFont typeface="Calibri"/>
              <a:buNone/>
            </a:pPr>
            <a:r>
              <a:rPr lang="en-US" sz="900">
                <a:solidFill>
                  <a:srgbClr val="8A8176"/>
                </a:solidFill>
                <a:latin typeface="Calibri"/>
                <a:ea typeface="Calibri"/>
                <a:cs typeface="Calibri"/>
                <a:sym typeface="Calibri"/>
              </a:rPr>
              <a:t>8</a:t>
            </a:r>
            <a:endParaRPr sz="900">
              <a:solidFill>
                <a:schemeClr val="dk1"/>
              </a:solidFill>
              <a:latin typeface="Calibri"/>
              <a:ea typeface="Calibri"/>
              <a:cs typeface="Calibri"/>
              <a:sym typeface="Calibri"/>
            </a:endParaRPr>
          </a:p>
        </p:txBody>
      </p:sp>
      <p:pic>
        <p:nvPicPr>
          <p:cNvPr id="151" name="Google Shape;151;p10"/>
          <p:cNvPicPr preferRelativeResize="0"/>
          <p:nvPr/>
        </p:nvPicPr>
        <p:blipFill rotWithShape="1">
          <a:blip r:embed="rId3">
            <a:alphaModFix/>
          </a:blip>
          <a:srcRect/>
          <a:stretch/>
        </p:blipFill>
        <p:spPr>
          <a:xfrm>
            <a:off x="502920" y="1188720"/>
            <a:ext cx="4206240" cy="3200400"/>
          </a:xfrm>
          <a:prstGeom prst="rect">
            <a:avLst/>
          </a:prstGeom>
          <a:noFill/>
          <a:ln>
            <a:noFill/>
          </a:ln>
        </p:spPr>
      </p:pic>
      <p:sp>
        <p:nvSpPr>
          <p:cNvPr id="152" name="Google Shape;152;p10"/>
          <p:cNvSpPr txBox="1"/>
          <p:nvPr/>
        </p:nvSpPr>
        <p:spPr>
          <a:xfrm>
            <a:off x="502920" y="4407408"/>
            <a:ext cx="42519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8176"/>
              </a:buClr>
              <a:buSzPts val="1000"/>
              <a:buFont typeface="Calibri"/>
              <a:buNone/>
            </a:pPr>
            <a:r>
              <a:rPr lang="en-US" sz="1000" i="1">
                <a:solidFill>
                  <a:srgbClr val="8A8176"/>
                </a:solidFill>
                <a:latin typeface="Calibri"/>
                <a:ea typeface="Calibri"/>
                <a:cs typeface="Calibri"/>
                <a:sym typeface="Calibri"/>
              </a:rPr>
              <a:t>Праг за „прошао“: 80 %.  На 100 WPM прешло четворо од девет, на 250 двоје, на 350 двоје.</a:t>
            </a:r>
            <a:endParaRPr sz="1000">
              <a:solidFill>
                <a:schemeClr val="dk1"/>
              </a:solidFill>
              <a:latin typeface="Calibri"/>
              <a:ea typeface="Calibri"/>
              <a:cs typeface="Calibri"/>
              <a:sym typeface="Calibri"/>
            </a:endParaRPr>
          </a:p>
        </p:txBody>
      </p:sp>
      <p:sp>
        <p:nvSpPr>
          <p:cNvPr id="153" name="Google Shape;153;p10"/>
          <p:cNvSpPr/>
          <p:nvPr/>
        </p:nvSpPr>
        <p:spPr>
          <a:xfrm>
            <a:off x="4983480" y="1188720"/>
            <a:ext cx="3657600" cy="1554480"/>
          </a:xfrm>
          <a:prstGeom prst="roundRect">
            <a:avLst>
              <a:gd name="adj" fmla="val 3529"/>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0"/>
          <p:cNvSpPr txBox="1"/>
          <p:nvPr/>
        </p:nvSpPr>
        <p:spPr>
          <a:xfrm>
            <a:off x="5212080" y="1335024"/>
            <a:ext cx="32004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250"/>
              <a:buFont typeface="Calibri"/>
              <a:buNone/>
            </a:pPr>
            <a:r>
              <a:rPr lang="en-US" sz="1250" b="1">
                <a:solidFill>
                  <a:srgbClr val="AE7413"/>
                </a:solidFill>
                <a:latin typeface="Calibri"/>
                <a:ea typeface="Calibri"/>
                <a:cs typeface="Calibri"/>
                <a:sym typeface="Calibri"/>
              </a:rPr>
              <a:t>Потврђена по смеру</a:t>
            </a:r>
            <a:endParaRPr sz="1250">
              <a:solidFill>
                <a:schemeClr val="dk1"/>
              </a:solidFill>
              <a:latin typeface="Calibri"/>
              <a:ea typeface="Calibri"/>
              <a:cs typeface="Calibri"/>
              <a:sym typeface="Calibri"/>
            </a:endParaRPr>
          </a:p>
        </p:txBody>
      </p:sp>
      <p:sp>
        <p:nvSpPr>
          <p:cNvPr id="155" name="Google Shape;155;p10"/>
          <p:cNvSpPr txBox="1"/>
          <p:nvPr/>
        </p:nvSpPr>
        <p:spPr>
          <a:xfrm>
            <a:off x="5212080" y="1609344"/>
            <a:ext cx="3200400" cy="1005840"/>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None/>
            </a:pPr>
            <a:r>
              <a:rPr lang="en-US" sz="1050">
                <a:solidFill>
                  <a:srgbClr val="3A342D"/>
                </a:solidFill>
                <a:latin typeface="Calibri"/>
                <a:ea typeface="Calibri"/>
                <a:cs typeface="Calibri"/>
                <a:sym typeface="Calibri"/>
              </a:rPr>
              <a:t>Пад је јасан и иде у очекиваном смеру. Није глатак код сваког понаособ - троје учесника (У3, У6, У9) има виши резултат на 350 него на 250 WPM, што говори о великој варијацији на нивоу појединца.</a:t>
            </a:r>
            <a:endParaRPr sz="1050">
              <a:solidFill>
                <a:schemeClr val="dk1"/>
              </a:solidFill>
              <a:latin typeface="Calibri"/>
              <a:ea typeface="Calibri"/>
              <a:cs typeface="Calibri"/>
              <a:sym typeface="Calibri"/>
            </a:endParaRPr>
          </a:p>
        </p:txBody>
      </p:sp>
      <p:sp>
        <p:nvSpPr>
          <p:cNvPr id="156" name="Google Shape;156;p10"/>
          <p:cNvSpPr/>
          <p:nvPr/>
        </p:nvSpPr>
        <p:spPr>
          <a:xfrm>
            <a:off x="4983480" y="2880360"/>
            <a:ext cx="3657600" cy="1673352"/>
          </a:xfrm>
          <a:prstGeom prst="roundRect">
            <a:avLst>
              <a:gd name="adj" fmla="val 3279"/>
            </a:avLst>
          </a:prstGeom>
          <a:solidFill>
            <a:srgbClr val="E9DCC5"/>
          </a:solidFill>
          <a:ln w="12700" cap="flat" cmpd="sng">
            <a:solidFill>
              <a:srgbClr val="E9DC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0"/>
          <p:cNvSpPr txBox="1"/>
          <p:nvPr/>
        </p:nvSpPr>
        <p:spPr>
          <a:xfrm>
            <a:off x="5212080" y="3026664"/>
            <a:ext cx="32004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2F2A"/>
              </a:buClr>
              <a:buSzPts val="1250"/>
              <a:buFont typeface="Calibri"/>
              <a:buNone/>
            </a:pPr>
            <a:r>
              <a:rPr lang="en-US" sz="1250" b="1">
                <a:solidFill>
                  <a:srgbClr val="8C2F2A"/>
                </a:solidFill>
                <a:latin typeface="Calibri"/>
                <a:ea typeface="Calibri"/>
                <a:cs typeface="Calibri"/>
                <a:sym typeface="Calibri"/>
              </a:rPr>
              <a:t>Али не и по величини</a:t>
            </a:r>
            <a:endParaRPr sz="1250">
              <a:solidFill>
                <a:schemeClr val="dk1"/>
              </a:solidFill>
              <a:latin typeface="Calibri"/>
              <a:ea typeface="Calibri"/>
              <a:cs typeface="Calibri"/>
              <a:sym typeface="Calibri"/>
            </a:endParaRPr>
          </a:p>
        </p:txBody>
      </p:sp>
      <p:sp>
        <p:nvSpPr>
          <p:cNvPr id="158" name="Google Shape;158;p10"/>
          <p:cNvSpPr txBox="1"/>
          <p:nvPr/>
        </p:nvSpPr>
        <p:spPr>
          <a:xfrm>
            <a:off x="5212080" y="3300984"/>
            <a:ext cx="3200400" cy="1143000"/>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3A342D"/>
              </a:buClr>
              <a:buSzPts val="1050"/>
              <a:buFont typeface="Calibri"/>
              <a:buNone/>
            </a:pPr>
            <a:r>
              <a:rPr lang="en-US" sz="1050">
                <a:solidFill>
                  <a:srgbClr val="3A342D"/>
                </a:solidFill>
                <a:latin typeface="Calibri"/>
                <a:ea typeface="Calibri"/>
                <a:cs typeface="Calibri"/>
                <a:sym typeface="Calibri"/>
              </a:rPr>
              <a:t>При истој брзини од 100 WPM, четворо који су добили Lit_Alchemist имају 83 % тачности, а четворо са PopSci_Caveman 54 %. Разлика међу текстовима при истом темпу - 29 поена - већа је од укупног пада кроз три брзине, који износи 19. Овај нацрт то двоје не може да раздвоји.</a:t>
            </a:r>
            <a:endParaRPr sz="105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Shape 163"/>
        <p:cNvGrpSpPr/>
        <p:nvPr/>
      </p:nvGrpSpPr>
      <p:grpSpPr>
        <a:xfrm>
          <a:off x="0" y="0"/>
          <a:ext cx="0" cy="0"/>
          <a:chOff x="0" y="0"/>
          <a:chExt cx="0" cy="0"/>
        </a:xfrm>
      </p:grpSpPr>
      <p:sp>
        <p:nvSpPr>
          <p:cNvPr id="164" name="Google Shape;164;p11"/>
          <p:cNvSpPr txBox="1"/>
          <p:nvPr/>
        </p:nvSpPr>
        <p:spPr>
          <a:xfrm>
            <a:off x="502920" y="274320"/>
            <a:ext cx="81381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РЕЗУЛТАТИ  ·  H2 И H3</a:t>
            </a:r>
            <a:endParaRPr sz="1000">
              <a:solidFill>
                <a:schemeClr val="dk1"/>
              </a:solidFill>
              <a:latin typeface="Calibri"/>
              <a:ea typeface="Calibri"/>
              <a:cs typeface="Calibri"/>
              <a:sym typeface="Calibri"/>
            </a:endParaRPr>
          </a:p>
        </p:txBody>
      </p:sp>
      <p:sp>
        <p:nvSpPr>
          <p:cNvPr id="165" name="Google Shape;165;p11"/>
          <p:cNvSpPr txBox="1"/>
          <p:nvPr/>
        </p:nvSpPr>
        <p:spPr>
          <a:xfrm>
            <a:off x="502920" y="512064"/>
            <a:ext cx="8138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2600"/>
              <a:buFont typeface="Cambria"/>
              <a:buNone/>
            </a:pPr>
            <a:r>
              <a:rPr lang="en-US" sz="2600" b="1">
                <a:solidFill>
                  <a:srgbClr val="1B1815"/>
                </a:solidFill>
                <a:latin typeface="Cambria"/>
                <a:ea typeface="Cambria"/>
                <a:cs typeface="Cambria"/>
                <a:sym typeface="Cambria"/>
              </a:rPr>
              <a:t>Апликација наспрам читања са папира</a:t>
            </a:r>
            <a:endParaRPr sz="2600">
              <a:solidFill>
                <a:schemeClr val="dk1"/>
              </a:solidFill>
              <a:latin typeface="Calibri"/>
              <a:ea typeface="Calibri"/>
              <a:cs typeface="Calibri"/>
              <a:sym typeface="Calibri"/>
            </a:endParaRPr>
          </a:p>
        </p:txBody>
      </p:sp>
      <p:sp>
        <p:nvSpPr>
          <p:cNvPr id="166" name="Google Shape;166;p11"/>
          <p:cNvSpPr txBox="1"/>
          <p:nvPr/>
        </p:nvSpPr>
        <p:spPr>
          <a:xfrm>
            <a:off x="8275320" y="4754880"/>
            <a:ext cx="4572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8176"/>
              </a:buClr>
              <a:buSzPts val="900"/>
              <a:buFont typeface="Calibri"/>
              <a:buNone/>
            </a:pPr>
            <a:r>
              <a:rPr lang="en-US" sz="900">
                <a:solidFill>
                  <a:srgbClr val="8A8176"/>
                </a:solidFill>
                <a:latin typeface="Calibri"/>
                <a:ea typeface="Calibri"/>
                <a:cs typeface="Calibri"/>
                <a:sym typeface="Calibri"/>
              </a:rPr>
              <a:t>9</a:t>
            </a:r>
            <a:endParaRPr sz="900">
              <a:solidFill>
                <a:schemeClr val="dk1"/>
              </a:solidFill>
              <a:latin typeface="Calibri"/>
              <a:ea typeface="Calibri"/>
              <a:cs typeface="Calibri"/>
              <a:sym typeface="Calibri"/>
            </a:endParaRPr>
          </a:p>
        </p:txBody>
      </p:sp>
      <p:pic>
        <p:nvPicPr>
          <p:cNvPr id="167" name="Google Shape;167;p11"/>
          <p:cNvPicPr preferRelativeResize="0"/>
          <p:nvPr/>
        </p:nvPicPr>
        <p:blipFill rotWithShape="1">
          <a:blip r:embed="rId3">
            <a:alphaModFix/>
          </a:blip>
          <a:srcRect/>
          <a:stretch/>
        </p:blipFill>
        <p:spPr>
          <a:xfrm>
            <a:off x="502920" y="1170432"/>
            <a:ext cx="5349240" cy="3246120"/>
          </a:xfrm>
          <a:prstGeom prst="rect">
            <a:avLst/>
          </a:prstGeom>
          <a:noFill/>
          <a:ln>
            <a:noFill/>
          </a:ln>
        </p:spPr>
      </p:pic>
      <p:sp>
        <p:nvSpPr>
          <p:cNvPr id="168" name="Google Shape;168;p11"/>
          <p:cNvSpPr/>
          <p:nvPr/>
        </p:nvSpPr>
        <p:spPr>
          <a:xfrm>
            <a:off x="6080760" y="1170432"/>
            <a:ext cx="2560320" cy="960120"/>
          </a:xfrm>
          <a:prstGeom prst="roundRect">
            <a:avLst>
              <a:gd name="adj" fmla="val 5714"/>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1"/>
          <p:cNvSpPr txBox="1"/>
          <p:nvPr/>
        </p:nvSpPr>
        <p:spPr>
          <a:xfrm>
            <a:off x="6291072" y="1261872"/>
            <a:ext cx="21945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1700"/>
              <a:buFont typeface="Cambria"/>
              <a:buNone/>
            </a:pPr>
            <a:r>
              <a:rPr lang="en-US" sz="1700" b="1">
                <a:solidFill>
                  <a:srgbClr val="1B1815"/>
                </a:solidFill>
                <a:latin typeface="Cambria"/>
                <a:ea typeface="Cambria"/>
                <a:cs typeface="Cambria"/>
                <a:sym typeface="Cambria"/>
              </a:rPr>
              <a:t>85 % : 80 %</a:t>
            </a:r>
            <a:endParaRPr sz="1700">
              <a:solidFill>
                <a:schemeClr val="dk1"/>
              </a:solidFill>
              <a:latin typeface="Calibri"/>
              <a:ea typeface="Calibri"/>
              <a:cs typeface="Calibri"/>
              <a:sym typeface="Calibri"/>
            </a:endParaRPr>
          </a:p>
        </p:txBody>
      </p:sp>
      <p:sp>
        <p:nvSpPr>
          <p:cNvPr id="170" name="Google Shape;170;p11"/>
          <p:cNvSpPr txBox="1"/>
          <p:nvPr/>
        </p:nvSpPr>
        <p:spPr>
          <a:xfrm>
            <a:off x="6291072" y="1572768"/>
            <a:ext cx="2194560" cy="50292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None/>
            </a:pPr>
            <a:r>
              <a:rPr lang="en-US" sz="900">
                <a:solidFill>
                  <a:srgbClr val="3A342D"/>
                </a:solidFill>
                <a:latin typeface="Calibri"/>
                <a:ea typeface="Calibri"/>
                <a:cs typeface="Calibri"/>
                <a:sym typeface="Calibri"/>
              </a:rPr>
              <a:t>Tачност у апликацији наспрам папира - у упареном поређењу четворо боље у апликацији, троје на папиру, двоје исто</a:t>
            </a:r>
            <a:endParaRPr sz="900">
              <a:solidFill>
                <a:schemeClr val="dk1"/>
              </a:solidFill>
              <a:latin typeface="Calibri"/>
              <a:ea typeface="Calibri"/>
              <a:cs typeface="Calibri"/>
              <a:sym typeface="Calibri"/>
            </a:endParaRPr>
          </a:p>
        </p:txBody>
      </p:sp>
      <p:sp>
        <p:nvSpPr>
          <p:cNvPr id="171" name="Google Shape;171;p11"/>
          <p:cNvSpPr/>
          <p:nvPr/>
        </p:nvSpPr>
        <p:spPr>
          <a:xfrm>
            <a:off x="6080760" y="2267712"/>
            <a:ext cx="2560320" cy="960120"/>
          </a:xfrm>
          <a:prstGeom prst="roundRect">
            <a:avLst>
              <a:gd name="adj" fmla="val 5714"/>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txBox="1"/>
          <p:nvPr/>
        </p:nvSpPr>
        <p:spPr>
          <a:xfrm>
            <a:off x="6291072" y="2359152"/>
            <a:ext cx="21945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1700"/>
              <a:buFont typeface="Cambria"/>
              <a:buNone/>
            </a:pPr>
            <a:r>
              <a:rPr lang="en-US" sz="1700" b="1">
                <a:solidFill>
                  <a:srgbClr val="1B1815"/>
                </a:solidFill>
                <a:latin typeface="Cambria"/>
                <a:ea typeface="Cambria"/>
                <a:cs typeface="Cambria"/>
                <a:sym typeface="Cambria"/>
              </a:rPr>
              <a:t>184 : 176</a:t>
            </a:r>
            <a:endParaRPr sz="1700">
              <a:solidFill>
                <a:schemeClr val="dk1"/>
              </a:solidFill>
              <a:latin typeface="Calibri"/>
              <a:ea typeface="Calibri"/>
              <a:cs typeface="Calibri"/>
              <a:sym typeface="Calibri"/>
            </a:endParaRPr>
          </a:p>
        </p:txBody>
      </p:sp>
      <p:sp>
        <p:nvSpPr>
          <p:cNvPr id="173" name="Google Shape;173;p11"/>
          <p:cNvSpPr txBox="1"/>
          <p:nvPr/>
        </p:nvSpPr>
        <p:spPr>
          <a:xfrm>
            <a:off x="6291072" y="2670048"/>
            <a:ext cx="2194560" cy="50292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None/>
            </a:pPr>
            <a:r>
              <a:rPr lang="en-US" sz="900">
                <a:solidFill>
                  <a:srgbClr val="3A342D"/>
                </a:solidFill>
                <a:latin typeface="Calibri"/>
                <a:ea typeface="Calibri"/>
                <a:cs typeface="Calibri"/>
                <a:sym typeface="Calibri"/>
              </a:rPr>
              <a:t>Eфективна брзина наспрам папира, сам приказ реч по реч није спорији од читања са странице</a:t>
            </a:r>
            <a:endParaRPr sz="900">
              <a:solidFill>
                <a:schemeClr val="dk1"/>
              </a:solidFill>
              <a:latin typeface="Calibri"/>
              <a:ea typeface="Calibri"/>
              <a:cs typeface="Calibri"/>
              <a:sym typeface="Calibri"/>
            </a:endParaRPr>
          </a:p>
        </p:txBody>
      </p:sp>
      <p:sp>
        <p:nvSpPr>
          <p:cNvPr id="174" name="Google Shape;174;p11"/>
          <p:cNvSpPr/>
          <p:nvPr/>
        </p:nvSpPr>
        <p:spPr>
          <a:xfrm>
            <a:off x="6080760" y="3364992"/>
            <a:ext cx="2560320" cy="960120"/>
          </a:xfrm>
          <a:prstGeom prst="roundRect">
            <a:avLst>
              <a:gd name="adj" fmla="val 5714"/>
            </a:avLst>
          </a:prstGeom>
          <a:solidFill>
            <a:srgbClr val="E9DCC5"/>
          </a:solidFill>
          <a:ln w="12700" cap="flat" cmpd="sng">
            <a:solidFill>
              <a:srgbClr val="E9DC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1"/>
          <p:cNvSpPr txBox="1"/>
          <p:nvPr/>
        </p:nvSpPr>
        <p:spPr>
          <a:xfrm>
            <a:off x="6291072" y="3456432"/>
            <a:ext cx="21945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2F2A"/>
              </a:buClr>
              <a:buSzPts val="1700"/>
              <a:buFont typeface="Cambria"/>
              <a:buNone/>
            </a:pPr>
            <a:r>
              <a:rPr lang="en-US" sz="1700" b="1">
                <a:solidFill>
                  <a:srgbClr val="8C2F2A"/>
                </a:solidFill>
                <a:latin typeface="Cambria"/>
                <a:ea typeface="Cambria"/>
                <a:cs typeface="Cambria"/>
                <a:sym typeface="Cambria"/>
              </a:rPr>
              <a:t>150 : 176</a:t>
            </a:r>
            <a:endParaRPr sz="1700">
              <a:solidFill>
                <a:schemeClr val="dk1"/>
              </a:solidFill>
              <a:latin typeface="Calibri"/>
              <a:ea typeface="Calibri"/>
              <a:cs typeface="Calibri"/>
              <a:sym typeface="Calibri"/>
            </a:endParaRPr>
          </a:p>
        </p:txBody>
      </p:sp>
      <p:sp>
        <p:nvSpPr>
          <p:cNvPr id="176" name="Google Shape;176;p11"/>
          <p:cNvSpPr txBox="1"/>
          <p:nvPr/>
        </p:nvSpPr>
        <p:spPr>
          <a:xfrm>
            <a:off x="6291072" y="3767328"/>
            <a:ext cx="2194560" cy="50292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3A342D"/>
              </a:buClr>
              <a:buSzPts val="900"/>
              <a:buFont typeface="Calibri"/>
              <a:buNone/>
            </a:pPr>
            <a:r>
              <a:rPr lang="en-US" sz="900">
                <a:solidFill>
                  <a:srgbClr val="3A342D"/>
                </a:solidFill>
                <a:latin typeface="Calibri"/>
                <a:ea typeface="Calibri"/>
                <a:cs typeface="Calibri"/>
                <a:sym typeface="Calibri"/>
              </a:rPr>
              <a:t>Сесијска брзина наспрам папира - разлика је време проведено на паузи и контролама</a:t>
            </a:r>
            <a:endParaRPr sz="900">
              <a:solidFill>
                <a:schemeClr val="dk1"/>
              </a:solidFill>
              <a:latin typeface="Calibri"/>
              <a:ea typeface="Calibri"/>
              <a:cs typeface="Calibri"/>
              <a:sym typeface="Calibri"/>
            </a:endParaRPr>
          </a:p>
        </p:txBody>
      </p:sp>
      <p:sp>
        <p:nvSpPr>
          <p:cNvPr id="177" name="Google Shape;177;p11"/>
          <p:cNvSpPr txBox="1"/>
          <p:nvPr/>
        </p:nvSpPr>
        <p:spPr>
          <a:xfrm>
            <a:off x="502920" y="4480560"/>
            <a:ext cx="81381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8176"/>
              </a:buClr>
              <a:buSzPts val="1050"/>
              <a:buFont typeface="Calibri"/>
              <a:buNone/>
            </a:pPr>
            <a:r>
              <a:rPr lang="en-US" sz="1050" i="1">
                <a:solidFill>
                  <a:srgbClr val="8A8176"/>
                </a:solidFill>
                <a:latin typeface="Calibri"/>
                <a:ea typeface="Calibri"/>
                <a:cs typeface="Calibri"/>
                <a:sym typeface="Calibri"/>
              </a:rPr>
              <a:t>Три учесника без иједног враћања имају ефективну брзину идентичну подешеној — најчистија потврда да у мерном ланцу нема систематског одступања.</a:t>
            </a:r>
            <a:endParaRPr sz="10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Shape 182"/>
        <p:cNvGrpSpPr/>
        <p:nvPr/>
      </p:nvGrpSpPr>
      <p:grpSpPr>
        <a:xfrm>
          <a:off x="0" y="0"/>
          <a:ext cx="0" cy="0"/>
          <a:chOff x="0" y="0"/>
          <a:chExt cx="0" cy="0"/>
        </a:xfrm>
      </p:grpSpPr>
      <p:sp>
        <p:nvSpPr>
          <p:cNvPr id="183" name="Google Shape;183;p12"/>
          <p:cNvSpPr txBox="1"/>
          <p:nvPr/>
        </p:nvSpPr>
        <p:spPr>
          <a:xfrm>
            <a:off x="502920" y="274320"/>
            <a:ext cx="81381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000"/>
              <a:buFont typeface="Calibri"/>
              <a:buNone/>
            </a:pPr>
            <a:r>
              <a:rPr lang="en-US" sz="1000" b="1">
                <a:solidFill>
                  <a:srgbClr val="AE7413"/>
                </a:solidFill>
                <a:latin typeface="Calibri"/>
                <a:ea typeface="Calibri"/>
                <a:cs typeface="Calibri"/>
                <a:sym typeface="Calibri"/>
              </a:rPr>
              <a:t>КЉУЧНИ НАЛАЗ</a:t>
            </a:r>
            <a:endParaRPr sz="1000">
              <a:solidFill>
                <a:schemeClr val="dk1"/>
              </a:solidFill>
              <a:latin typeface="Calibri"/>
              <a:ea typeface="Calibri"/>
              <a:cs typeface="Calibri"/>
              <a:sym typeface="Calibri"/>
            </a:endParaRPr>
          </a:p>
        </p:txBody>
      </p:sp>
      <p:sp>
        <p:nvSpPr>
          <p:cNvPr id="184" name="Google Shape;184;p12"/>
          <p:cNvSpPr txBox="1"/>
          <p:nvPr/>
        </p:nvSpPr>
        <p:spPr>
          <a:xfrm>
            <a:off x="502920" y="512064"/>
            <a:ext cx="8138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15"/>
              </a:buClr>
              <a:buSzPts val="2600"/>
              <a:buFont typeface="Cambria"/>
              <a:buNone/>
            </a:pPr>
            <a:r>
              <a:rPr lang="en-US" sz="2600" b="1">
                <a:solidFill>
                  <a:srgbClr val="1B1815"/>
                </a:solidFill>
                <a:latin typeface="Cambria"/>
                <a:ea typeface="Cambria"/>
                <a:cs typeface="Cambria"/>
                <a:sym typeface="Cambria"/>
              </a:rPr>
              <a:t>Закључен темпо потцењује део читалаца</a:t>
            </a:r>
            <a:endParaRPr sz="2600">
              <a:solidFill>
                <a:schemeClr val="dk1"/>
              </a:solidFill>
              <a:latin typeface="Calibri"/>
              <a:ea typeface="Calibri"/>
              <a:cs typeface="Calibri"/>
              <a:sym typeface="Calibri"/>
            </a:endParaRPr>
          </a:p>
        </p:txBody>
      </p:sp>
      <p:sp>
        <p:nvSpPr>
          <p:cNvPr id="185" name="Google Shape;185;p12"/>
          <p:cNvSpPr txBox="1"/>
          <p:nvPr/>
        </p:nvSpPr>
        <p:spPr>
          <a:xfrm>
            <a:off x="8275320" y="4754880"/>
            <a:ext cx="4572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8176"/>
              </a:buClr>
              <a:buSzPts val="900"/>
              <a:buFont typeface="Calibri"/>
              <a:buNone/>
            </a:pPr>
            <a:r>
              <a:rPr lang="en-US" sz="900">
                <a:solidFill>
                  <a:srgbClr val="8A8176"/>
                </a:solidFill>
                <a:latin typeface="Calibri"/>
                <a:ea typeface="Calibri"/>
                <a:cs typeface="Calibri"/>
                <a:sym typeface="Calibri"/>
              </a:rPr>
              <a:t>10</a:t>
            </a:r>
            <a:endParaRPr sz="900">
              <a:solidFill>
                <a:schemeClr val="dk1"/>
              </a:solidFill>
              <a:latin typeface="Calibri"/>
              <a:ea typeface="Calibri"/>
              <a:cs typeface="Calibri"/>
              <a:sym typeface="Calibri"/>
            </a:endParaRPr>
          </a:p>
        </p:txBody>
      </p:sp>
      <p:pic>
        <p:nvPicPr>
          <p:cNvPr id="186" name="Google Shape;186;p12"/>
          <p:cNvPicPr preferRelativeResize="0"/>
          <p:nvPr/>
        </p:nvPicPr>
        <p:blipFill rotWithShape="1">
          <a:blip r:embed="rId3">
            <a:alphaModFix/>
          </a:blip>
          <a:srcRect/>
          <a:stretch/>
        </p:blipFill>
        <p:spPr>
          <a:xfrm>
            <a:off x="502920" y="1188720"/>
            <a:ext cx="4023360" cy="3017520"/>
          </a:xfrm>
          <a:prstGeom prst="rect">
            <a:avLst/>
          </a:prstGeom>
          <a:noFill/>
          <a:ln>
            <a:noFill/>
          </a:ln>
        </p:spPr>
      </p:pic>
      <p:sp>
        <p:nvSpPr>
          <p:cNvPr id="187" name="Google Shape;187;p12"/>
          <p:cNvSpPr txBox="1"/>
          <p:nvPr/>
        </p:nvSpPr>
        <p:spPr>
          <a:xfrm>
            <a:off x="502920" y="4279392"/>
            <a:ext cx="411480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8176"/>
              </a:buClr>
              <a:buSzPts val="1000"/>
              <a:buFont typeface="Calibri"/>
              <a:buNone/>
            </a:pPr>
            <a:r>
              <a:rPr lang="en-US" sz="1000" i="1">
                <a:solidFill>
                  <a:srgbClr val="8A8176"/>
                </a:solidFill>
                <a:latin typeface="Calibri"/>
                <a:ea typeface="Calibri"/>
                <a:cs typeface="Calibri"/>
                <a:sym typeface="Calibri"/>
              </a:rPr>
              <a:t>Троје од девет завршило је калибрацију на резервних 50 WPM — брзини која на њима није ни тестирана.</a:t>
            </a:r>
            <a:endParaRPr sz="1000">
              <a:solidFill>
                <a:schemeClr val="dk1"/>
              </a:solidFill>
              <a:latin typeface="Calibri"/>
              <a:ea typeface="Calibri"/>
              <a:cs typeface="Calibri"/>
              <a:sym typeface="Calibri"/>
            </a:endParaRPr>
          </a:p>
        </p:txBody>
      </p:sp>
      <p:sp>
        <p:nvSpPr>
          <p:cNvPr id="188" name="Google Shape;188;p12"/>
          <p:cNvSpPr/>
          <p:nvPr/>
        </p:nvSpPr>
        <p:spPr>
          <a:xfrm>
            <a:off x="4800600" y="1188720"/>
            <a:ext cx="3840480" cy="1481328"/>
          </a:xfrm>
          <a:prstGeom prst="roundRect">
            <a:avLst>
              <a:gd name="adj" fmla="val 3704"/>
            </a:avLst>
          </a:prstGeom>
          <a:solidFill>
            <a:srgbClr val="E9DCC5"/>
          </a:solidFill>
          <a:ln w="12700" cap="flat" cmpd="sng">
            <a:solidFill>
              <a:srgbClr val="E9DC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2"/>
          <p:cNvSpPr txBox="1"/>
          <p:nvPr/>
        </p:nvSpPr>
        <p:spPr>
          <a:xfrm>
            <a:off x="5029200" y="1335024"/>
            <a:ext cx="338328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2F2A"/>
              </a:buClr>
              <a:buSzPts val="1250"/>
              <a:buFont typeface="Calibri"/>
              <a:buNone/>
            </a:pPr>
            <a:r>
              <a:rPr lang="en-US" sz="1250" b="1">
                <a:solidFill>
                  <a:srgbClr val="8C2F2A"/>
                </a:solidFill>
                <a:latin typeface="Calibri"/>
                <a:ea typeface="Calibri"/>
                <a:cs typeface="Calibri"/>
                <a:sym typeface="Calibri"/>
              </a:rPr>
              <a:t>Однос способности и контроле</a:t>
            </a:r>
            <a:endParaRPr sz="1250">
              <a:solidFill>
                <a:schemeClr val="dk1"/>
              </a:solidFill>
              <a:latin typeface="Calibri"/>
              <a:ea typeface="Calibri"/>
              <a:cs typeface="Calibri"/>
              <a:sym typeface="Calibri"/>
            </a:endParaRPr>
          </a:p>
        </p:txBody>
      </p:sp>
      <p:sp>
        <p:nvSpPr>
          <p:cNvPr id="190" name="Google Shape;190;p12"/>
          <p:cNvSpPr txBox="1"/>
          <p:nvPr/>
        </p:nvSpPr>
        <p:spPr>
          <a:xfrm>
            <a:off x="5029200" y="1609344"/>
            <a:ext cx="3383280" cy="969264"/>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None/>
            </a:pPr>
            <a:r>
              <a:rPr lang="en-US" sz="1050">
                <a:solidFill>
                  <a:srgbClr val="3A342D"/>
                </a:solidFill>
                <a:latin typeface="Calibri"/>
                <a:ea typeface="Calibri"/>
                <a:cs typeface="Calibri"/>
                <a:sym typeface="Calibri"/>
              </a:rPr>
              <a:t>У1 и У7 су, чим им се вратила контрола над темпом, читали на 170 и 190 WPM уз стопостотну тачност, знатно изнад свега што им је закључена калибрација понудила. Мрежа од три брзине једноставно није ухватила тачку у којој се код њих разумевање и удобност поклапају.</a:t>
            </a:r>
            <a:endParaRPr sz="1050">
              <a:solidFill>
                <a:schemeClr val="dk1"/>
              </a:solidFill>
              <a:latin typeface="Calibri"/>
              <a:ea typeface="Calibri"/>
              <a:cs typeface="Calibri"/>
              <a:sym typeface="Calibri"/>
            </a:endParaRPr>
          </a:p>
        </p:txBody>
      </p:sp>
      <p:sp>
        <p:nvSpPr>
          <p:cNvPr id="191" name="Google Shape;191;p12"/>
          <p:cNvSpPr/>
          <p:nvPr/>
        </p:nvSpPr>
        <p:spPr>
          <a:xfrm>
            <a:off x="4800600" y="2807208"/>
            <a:ext cx="3840480" cy="1737360"/>
          </a:xfrm>
          <a:prstGeom prst="roundRect">
            <a:avLst>
              <a:gd name="adj" fmla="val 3158"/>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2"/>
          <p:cNvSpPr txBox="1"/>
          <p:nvPr/>
        </p:nvSpPr>
        <p:spPr>
          <a:xfrm>
            <a:off x="5029200" y="2953512"/>
            <a:ext cx="338328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E7413"/>
              </a:buClr>
              <a:buSzPts val="1250"/>
              <a:buFont typeface="Calibri"/>
              <a:buNone/>
            </a:pPr>
            <a:r>
              <a:rPr lang="en-US" sz="1250" b="1">
                <a:solidFill>
                  <a:srgbClr val="AE7413"/>
                </a:solidFill>
                <a:latin typeface="Calibri"/>
                <a:ea typeface="Calibri"/>
                <a:cs typeface="Calibri"/>
                <a:sym typeface="Calibri"/>
              </a:rPr>
              <a:t>Друга страна: учесник У6</a:t>
            </a:r>
            <a:endParaRPr sz="1250">
              <a:solidFill>
                <a:schemeClr val="dk1"/>
              </a:solidFill>
              <a:latin typeface="Calibri"/>
              <a:ea typeface="Calibri"/>
              <a:cs typeface="Calibri"/>
              <a:sym typeface="Calibri"/>
            </a:endParaRPr>
          </a:p>
        </p:txBody>
      </p:sp>
      <p:sp>
        <p:nvSpPr>
          <p:cNvPr id="193" name="Google Shape;193;p12"/>
          <p:cNvSpPr txBox="1"/>
          <p:nvPr/>
        </p:nvSpPr>
        <p:spPr>
          <a:xfrm>
            <a:off x="5029200" y="3227832"/>
            <a:ext cx="3383280" cy="1225296"/>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3A342D"/>
              </a:buClr>
              <a:buSzPts val="1050"/>
              <a:buFont typeface="Calibri"/>
              <a:buNone/>
            </a:pPr>
            <a:r>
              <a:rPr lang="en-US" sz="1050">
                <a:solidFill>
                  <a:srgbClr val="3A342D"/>
                </a:solidFill>
                <a:latin typeface="Calibri"/>
                <a:ea typeface="Calibri"/>
                <a:cs typeface="Calibri"/>
                <a:sym typeface="Calibri"/>
              </a:rPr>
              <a:t>Калибрација му је дала 100 WPM. Није је променио ниједном, нити се иједном вратио, прочитао цео текст на 100 уз стопостотну тачност. Са папира исти учесник чита 212 речи у минути. Апликација га је успорила на мање од половине уобичајеног темпа, а он то није исправио зато што понуђени број није деловао као нешто што треба оспорити.</a:t>
            </a:r>
            <a:endParaRPr sz="10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Shape 198"/>
        <p:cNvGrpSpPr/>
        <p:nvPr/>
      </p:nvGrpSpPr>
      <p:grpSpPr>
        <a:xfrm>
          <a:off x="0" y="0"/>
          <a:ext cx="0" cy="0"/>
          <a:chOff x="0" y="0"/>
          <a:chExt cx="0" cy="0"/>
        </a:xfrm>
      </p:grpSpPr>
      <p:sp>
        <p:nvSpPr>
          <p:cNvPr id="199" name="Google Shape;199;p13"/>
          <p:cNvSpPr txBox="1"/>
          <p:nvPr/>
        </p:nvSpPr>
        <p:spPr>
          <a:xfrm>
            <a:off x="502920" y="274320"/>
            <a:ext cx="81381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000" b="1">
                <a:solidFill>
                  <a:srgbClr val="AE7413"/>
                </a:solidFill>
                <a:latin typeface="Calibri"/>
                <a:ea typeface="Calibri"/>
                <a:cs typeface="Calibri"/>
                <a:sym typeface="Calibri"/>
              </a:rPr>
              <a:t>ЗАКЉУЧАК</a:t>
            </a:r>
            <a:endParaRPr sz="1800">
              <a:solidFill>
                <a:schemeClr val="dk1"/>
              </a:solidFill>
              <a:latin typeface="Calibri"/>
              <a:ea typeface="Calibri"/>
              <a:cs typeface="Calibri"/>
              <a:sym typeface="Calibri"/>
            </a:endParaRPr>
          </a:p>
        </p:txBody>
      </p:sp>
      <p:sp>
        <p:nvSpPr>
          <p:cNvPr id="200" name="Google Shape;200;p13"/>
          <p:cNvSpPr txBox="1"/>
          <p:nvPr/>
        </p:nvSpPr>
        <p:spPr>
          <a:xfrm>
            <a:off x="502920" y="512064"/>
            <a:ext cx="8138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600" b="1">
                <a:solidFill>
                  <a:srgbClr val="1B1815"/>
                </a:solidFill>
                <a:latin typeface="Cambria"/>
                <a:ea typeface="Cambria"/>
                <a:cs typeface="Cambria"/>
                <a:sym typeface="Cambria"/>
              </a:rPr>
              <a:t>Шта рад показује</a:t>
            </a:r>
            <a:endParaRPr/>
          </a:p>
        </p:txBody>
      </p:sp>
      <p:sp>
        <p:nvSpPr>
          <p:cNvPr id="201" name="Google Shape;201;p13"/>
          <p:cNvSpPr txBox="1"/>
          <p:nvPr/>
        </p:nvSpPr>
        <p:spPr>
          <a:xfrm>
            <a:off x="8275320" y="4754880"/>
            <a:ext cx="4572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8176"/>
              </a:buClr>
              <a:buSzPts val="900"/>
              <a:buFont typeface="Calibri"/>
              <a:buNone/>
            </a:pPr>
            <a:r>
              <a:rPr lang="en-US" sz="900">
                <a:solidFill>
                  <a:srgbClr val="8A8176"/>
                </a:solidFill>
                <a:latin typeface="Calibri"/>
                <a:ea typeface="Calibri"/>
                <a:cs typeface="Calibri"/>
                <a:sym typeface="Calibri"/>
              </a:rPr>
              <a:t>11</a:t>
            </a:r>
            <a:endParaRPr sz="900">
              <a:solidFill>
                <a:schemeClr val="dk1"/>
              </a:solidFill>
              <a:latin typeface="Calibri"/>
              <a:ea typeface="Calibri"/>
              <a:cs typeface="Calibri"/>
              <a:sym typeface="Calibri"/>
            </a:endParaRPr>
          </a:p>
        </p:txBody>
      </p:sp>
      <p:sp>
        <p:nvSpPr>
          <p:cNvPr id="202" name="Google Shape;202;p13"/>
          <p:cNvSpPr/>
          <p:nvPr/>
        </p:nvSpPr>
        <p:spPr>
          <a:xfrm>
            <a:off x="3351848" y="1087755"/>
            <a:ext cx="2441258" cy="3089910"/>
          </a:xfrm>
          <a:prstGeom prst="roundRect">
            <a:avLst>
              <a:gd name="adj" fmla="val 5217"/>
            </a:avLst>
          </a:prstGeom>
          <a:solidFill>
            <a:srgbClr val="E9DCC5"/>
          </a:solidFill>
          <a:ln w="12700" cap="flat" cmpd="sng">
            <a:solidFill>
              <a:srgbClr val="E9DC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3"/>
          <p:cNvSpPr/>
          <p:nvPr/>
        </p:nvSpPr>
        <p:spPr>
          <a:xfrm>
            <a:off x="501968" y="1088708"/>
            <a:ext cx="2495550" cy="3092767"/>
          </a:xfrm>
          <a:prstGeom prst="roundRect">
            <a:avLst>
              <a:gd name="adj" fmla="val 3529"/>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3"/>
          <p:cNvSpPr/>
          <p:nvPr/>
        </p:nvSpPr>
        <p:spPr>
          <a:xfrm>
            <a:off x="6078855" y="1088707"/>
            <a:ext cx="2495550" cy="3092767"/>
          </a:xfrm>
          <a:prstGeom prst="roundRect">
            <a:avLst>
              <a:gd name="adj" fmla="val 3529"/>
            </a:avLst>
          </a:prstGeom>
          <a:solidFill>
            <a:srgbClr val="F3EAD9"/>
          </a:solidFill>
          <a:ln w="12700" cap="flat" cmpd="sng">
            <a:solidFill>
              <a:srgbClr val="F3EA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3"/>
          <p:cNvSpPr txBox="1"/>
          <p:nvPr/>
        </p:nvSpPr>
        <p:spPr>
          <a:xfrm>
            <a:off x="632651" y="1198817"/>
            <a:ext cx="22402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mbria"/>
              <a:buNone/>
            </a:pPr>
            <a:r>
              <a:rPr lang="en-US" sz="1400" b="1">
                <a:solidFill>
                  <a:schemeClr val="dk1"/>
                </a:solidFill>
                <a:latin typeface="Cambria"/>
                <a:ea typeface="Cambria"/>
                <a:cs typeface="Cambria"/>
                <a:sym typeface="Cambria"/>
              </a:rPr>
              <a:t>Инжењерски</a:t>
            </a:r>
            <a:endParaRPr sz="1400">
              <a:solidFill>
                <a:schemeClr val="dk1"/>
              </a:solidFill>
              <a:latin typeface="Cambria"/>
              <a:ea typeface="Cambria"/>
              <a:cs typeface="Cambria"/>
              <a:sym typeface="Cambria"/>
            </a:endParaRPr>
          </a:p>
        </p:txBody>
      </p:sp>
      <p:sp>
        <p:nvSpPr>
          <p:cNvPr id="206" name="Google Shape;206;p13"/>
          <p:cNvSpPr txBox="1"/>
          <p:nvPr/>
        </p:nvSpPr>
        <p:spPr>
          <a:xfrm>
            <a:off x="3450907" y="1198817"/>
            <a:ext cx="22402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mbria"/>
              <a:buNone/>
            </a:pPr>
            <a:r>
              <a:rPr lang="en-US" sz="1400" b="1">
                <a:solidFill>
                  <a:schemeClr val="dk1"/>
                </a:solidFill>
                <a:latin typeface="Cambria"/>
                <a:ea typeface="Cambria"/>
                <a:cs typeface="Cambria"/>
                <a:sym typeface="Cambria"/>
              </a:rPr>
              <a:t>Мерни</a:t>
            </a:r>
            <a:endParaRPr sz="1400">
              <a:solidFill>
                <a:schemeClr val="dk1"/>
              </a:solidFill>
              <a:latin typeface="Cambria"/>
              <a:ea typeface="Cambria"/>
              <a:cs typeface="Cambria"/>
              <a:sym typeface="Cambria"/>
            </a:endParaRPr>
          </a:p>
        </p:txBody>
      </p:sp>
      <p:sp>
        <p:nvSpPr>
          <p:cNvPr id="207" name="Google Shape;207;p13"/>
          <p:cNvSpPr txBox="1"/>
          <p:nvPr/>
        </p:nvSpPr>
        <p:spPr>
          <a:xfrm>
            <a:off x="6207252" y="1198817"/>
            <a:ext cx="22402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mbria"/>
              <a:buNone/>
            </a:pPr>
            <a:r>
              <a:rPr lang="en-US" sz="1400" b="1">
                <a:solidFill>
                  <a:schemeClr val="dk1"/>
                </a:solidFill>
                <a:latin typeface="Cambria"/>
                <a:ea typeface="Cambria"/>
                <a:cs typeface="Cambria"/>
                <a:sym typeface="Cambria"/>
              </a:rPr>
              <a:t>Истаживачки</a:t>
            </a:r>
            <a:endParaRPr sz="1400">
              <a:solidFill>
                <a:schemeClr val="dk1"/>
              </a:solidFill>
              <a:latin typeface="Calibri"/>
              <a:ea typeface="Calibri"/>
              <a:cs typeface="Calibri"/>
              <a:sym typeface="Calibri"/>
            </a:endParaRPr>
          </a:p>
        </p:txBody>
      </p:sp>
      <p:sp>
        <p:nvSpPr>
          <p:cNvPr id="208" name="Google Shape;208;p13"/>
          <p:cNvSpPr txBox="1"/>
          <p:nvPr/>
        </p:nvSpPr>
        <p:spPr>
          <a:xfrm>
            <a:off x="632651" y="1636776"/>
            <a:ext cx="2240280" cy="18745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050"/>
              <a:buFont typeface="Calibri"/>
              <a:buNone/>
            </a:pPr>
            <a:r>
              <a:rPr lang="en-US" sz="1050">
                <a:solidFill>
                  <a:schemeClr val="dk1"/>
                </a:solidFill>
                <a:latin typeface="Calibri"/>
                <a:ea typeface="Calibri"/>
                <a:cs typeface="Calibri"/>
                <a:sym typeface="Calibri"/>
              </a:rPr>
              <a:t>Android апликација у Kotlin-у и Compose-у, са RSVP приказом, ORP истицањем и прилагодљивим темпом. Механизам заснован на апсолутним временским тренуцима спречава акумулацију грешке и чини систем употребљивим као мерни инструмент, не само као читач.</a:t>
            </a:r>
            <a:endParaRPr sz="1050">
              <a:solidFill>
                <a:schemeClr val="dk1"/>
              </a:solidFill>
              <a:latin typeface="Calibri"/>
              <a:ea typeface="Calibri"/>
              <a:cs typeface="Calibri"/>
              <a:sym typeface="Calibri"/>
            </a:endParaRPr>
          </a:p>
        </p:txBody>
      </p:sp>
      <p:sp>
        <p:nvSpPr>
          <p:cNvPr id="209" name="Google Shape;209;p13"/>
          <p:cNvSpPr txBox="1"/>
          <p:nvPr/>
        </p:nvSpPr>
        <p:spPr>
          <a:xfrm>
            <a:off x="3450907" y="1636776"/>
            <a:ext cx="2240280" cy="1874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050">
                <a:solidFill>
                  <a:schemeClr val="dk1"/>
                </a:solidFill>
                <a:latin typeface="Calibri"/>
                <a:ea typeface="Calibri"/>
                <a:cs typeface="Calibri"/>
                <a:sym typeface="Calibri"/>
              </a:rPr>
              <a:t>Раздвојене три брзине - номинална, ефективна и сесијска, чувају се уз сваку сесију, заједно с коефицијентом α, бројем враћања и изменама темпа. Разлика међу њима није појмовна финеса него величина која одређује исход поређења.</a:t>
            </a:r>
            <a:endParaRPr sz="1050">
              <a:solidFill>
                <a:schemeClr val="dk1"/>
              </a:solidFill>
              <a:latin typeface="Calibri"/>
              <a:ea typeface="Calibri"/>
              <a:cs typeface="Calibri"/>
              <a:sym typeface="Calibri"/>
            </a:endParaRPr>
          </a:p>
        </p:txBody>
      </p:sp>
      <p:sp>
        <p:nvSpPr>
          <p:cNvPr id="210" name="Google Shape;210;p13"/>
          <p:cNvSpPr txBox="1"/>
          <p:nvPr/>
        </p:nvSpPr>
        <p:spPr>
          <a:xfrm>
            <a:off x="6207252" y="1698689"/>
            <a:ext cx="2240280" cy="1874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050">
                <a:solidFill>
                  <a:schemeClr val="dk1"/>
                </a:solidFill>
                <a:latin typeface="Calibri"/>
                <a:ea typeface="Calibri"/>
                <a:cs typeface="Calibri"/>
                <a:sym typeface="Calibri"/>
              </a:rPr>
              <a:t>Све три хипотезе потврђене на девет учесника. Најважнији налаз је, међутим, изван њих: закључен темпо систематски потцењује читаоца коме треба више контроле над текстом, што је конкретна препорука за следећу верзију алгоритма.</a:t>
            </a:r>
            <a:endParaRPr sz="10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1815"/>
        </a:solidFill>
        <a:effectLst/>
      </p:bgPr>
    </p:bg>
    <p:spTree>
      <p:nvGrpSpPr>
        <p:cNvPr id="1" name="Shape 215"/>
        <p:cNvGrpSpPr/>
        <p:nvPr/>
      </p:nvGrpSpPr>
      <p:grpSpPr>
        <a:xfrm>
          <a:off x="0" y="0"/>
          <a:ext cx="0" cy="0"/>
          <a:chOff x="0" y="0"/>
          <a:chExt cx="0" cy="0"/>
        </a:xfrm>
      </p:grpSpPr>
      <p:sp>
        <p:nvSpPr>
          <p:cNvPr id="216" name="Google Shape;216;p14"/>
          <p:cNvSpPr txBox="1"/>
          <p:nvPr/>
        </p:nvSpPr>
        <p:spPr>
          <a:xfrm>
            <a:off x="502920" y="607505"/>
            <a:ext cx="8138160" cy="331279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7200" b="1">
                <a:solidFill>
                  <a:srgbClr val="FFFFFF"/>
                </a:solidFill>
                <a:latin typeface="Cambria"/>
                <a:ea typeface="Cambria"/>
                <a:cs typeface="Cambria"/>
                <a:sym typeface="Cambria"/>
              </a:rPr>
              <a:t>Хвала на пажњи.</a:t>
            </a:r>
            <a:endParaRPr sz="6000">
              <a:solidFill>
                <a:schemeClr val="dk1"/>
              </a:solidFill>
              <a:latin typeface="Calibri"/>
              <a:ea typeface="Calibri"/>
              <a:cs typeface="Calibri"/>
              <a:sym typeface="Calibri"/>
            </a:endParaRPr>
          </a:p>
        </p:txBody>
      </p:sp>
      <p:sp>
        <p:nvSpPr>
          <p:cNvPr id="217" name="Google Shape;217;p14"/>
          <p:cNvSpPr txBox="1"/>
          <p:nvPr/>
        </p:nvSpPr>
        <p:spPr>
          <a:xfrm>
            <a:off x="502920" y="3975926"/>
            <a:ext cx="8138160" cy="8513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8176"/>
              </a:buClr>
              <a:buSzPts val="1600"/>
              <a:buFont typeface="Calibri"/>
              <a:buNone/>
            </a:pPr>
            <a:r>
              <a:rPr lang="en-US" sz="1600">
                <a:solidFill>
                  <a:srgbClr val="8A8176"/>
                </a:solidFill>
                <a:latin typeface="Calibri"/>
                <a:ea typeface="Calibri"/>
                <a:cs typeface="Calibri"/>
                <a:sym typeface="Calibri"/>
              </a:rPr>
              <a:t>Вук Алексијевић  ·  2024/3032  ·  ментор проф. др Милош Цветановић</a:t>
            </a:r>
            <a:endParaRPr sz="1600">
              <a:solidFill>
                <a:schemeClr val="dk1"/>
              </a:solidFill>
              <a:latin typeface="Calibri"/>
              <a:ea typeface="Calibri"/>
              <a:cs typeface="Calibri"/>
              <a:sym typeface="Calibri"/>
            </a:endParaRPr>
          </a:p>
        </p:txBody>
      </p:sp>
      <p:sp>
        <p:nvSpPr>
          <p:cNvPr id="218" name="Google Shape;218;p14"/>
          <p:cNvSpPr txBox="1"/>
          <p:nvPr/>
        </p:nvSpPr>
        <p:spPr>
          <a:xfrm>
            <a:off x="8275320" y="4754880"/>
            <a:ext cx="4572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8176"/>
              </a:buClr>
              <a:buSzPts val="900"/>
              <a:buFont typeface="Calibri"/>
              <a:buNone/>
            </a:pPr>
            <a:r>
              <a:rPr lang="en-US" sz="900">
                <a:solidFill>
                  <a:srgbClr val="8A8176"/>
                </a:solidFill>
                <a:latin typeface="Calibri"/>
                <a:ea typeface="Calibri"/>
                <a:cs typeface="Calibri"/>
                <a:sym typeface="Calibri"/>
              </a:rPr>
              <a:t>12</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13</Slides>
  <Notes>13</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5</cp:revision>
  <dcterms:modified xsi:type="dcterms:W3CDTF">2026-09-08T18:53:29Z</dcterms:modified>
</cp:coreProperties>
</file>